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97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00E5FF"/>
                </a:solidFill>
              </a:defRPr>
            </a:pPr>
            <a:r>
              <a:t>PORTFOLIO DESIGN &amp; ENGINEERING DECK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Yatin Patil — Developer Portfolio</a:t>
            </a:r>
          </a:p>
          <a:p>
            <a:pPr>
              <a:spcAft>
                <a:spcPts val="2800"/>
              </a:spcAft>
              <a:defRPr sz="1800">
                <a:solidFill>
                  <a:srgbClr val="FFB74D"/>
                </a:solidFill>
              </a:defRPr>
            </a:pPr>
            <a:r>
              <a:t>Design Principles, Rationale, Architecture &amp; Key Learnings</a:t>
            </a:r>
          </a:p>
          <a:p>
            <a:pPr>
              <a:defRPr sz="1100">
                <a:solidFill>
                  <a:srgbClr val="A0A0B5"/>
                </a:solidFill>
              </a:defRPr>
            </a:pPr>
            <a:r>
              <a:t>Live App: https://yatinportfolio.vercel.app/   •   Stack: Next.js 16 • TypeScript • HTML5 Canvas • Framer Motion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01  /  CORE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Strategic Goals &amp; Benchmarks</a:t>
            </a:r>
          </a:p>
          <a:p>
            <a:pPr>
              <a:defRPr sz="1200">
                <a:solidFill>
                  <a:srgbClr val="A0A0B5"/>
                </a:solidFill>
              </a:defRPr>
            </a:pPr>
            <a:r>
              <a:t>Key targets set for visual identity, technical quality, and user experience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42255" cy="182880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6936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E5FF"/>
                </a:solidFill>
              </a:defRPr>
            </a:pPr>
            <a:r>
              <a:t>01 .  Demonstrate Full-Stack Mastery</a:t>
            </a:r>
          </a:p>
          <a:p>
            <a:pPr>
              <a:defRPr sz="1100">
                <a:solidFill>
                  <a:srgbClr val="A0A0B5"/>
                </a:solidFill>
              </a:defRPr>
            </a:pPr>
            <a:r>
              <a:t>Showcase proficiency in Next.js 16, TypeScript, React 19, and 60 FPS Canvas animations.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42255" cy="182880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240280"/>
            <a:ext cx="46936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E5FF"/>
                </a:solidFill>
              </a:defRPr>
            </a:pPr>
            <a:r>
              <a:t>02 .  Establish Distinct Visual Identity</a:t>
            </a:r>
          </a:p>
          <a:p>
            <a:pPr>
              <a:defRPr sz="1100">
                <a:solidFill>
                  <a:srgbClr val="A0A0B5"/>
                </a:solidFill>
              </a:defRPr>
            </a:pPr>
            <a:r>
              <a:t>Engineered a custom darkroom film aesthetic that stands out from generic developer portfolios.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5242255" cy="182880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46936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E5FF"/>
                </a:solidFill>
              </a:defRPr>
            </a:pPr>
            <a:r>
              <a:t>03 .  Deliver Interactive Engagement</a:t>
            </a:r>
          </a:p>
          <a:p>
            <a:pPr>
              <a:defRPr sz="1100">
                <a:solidFill>
                  <a:srgbClr val="A0A0B5"/>
                </a:solidFill>
              </a:defRPr>
            </a:pPr>
            <a:r>
              <a:t>Features 3D canvas scroll scrubbing, 6 customizable film stock color themes, and subtle micro-interactions.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06240"/>
            <a:ext cx="5242255" cy="1828800"/>
          </a:xfrm>
          <a:prstGeom prst="roundRect">
            <a:avLst/>
          </a:prstGeom>
          <a:solidFill>
            <a:srgbClr val="14141A"/>
          </a:solidFill>
          <a:ln w="12700"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434840"/>
            <a:ext cx="46936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E5FF"/>
                </a:solidFill>
              </a:defRPr>
            </a:pPr>
            <a:r>
              <a:t>04 .  Preserve Authentic Original Work</a:t>
            </a:r>
          </a:p>
          <a:p>
            <a:pPr>
              <a:defRPr sz="1100">
                <a:solidFill>
                  <a:srgbClr val="A0A0B5"/>
                </a:solidFill>
              </a:defRPr>
            </a:pPr>
            <a:r>
              <a:t>Integrates physical hand-drawn sketches and real hackathon event memories without synthetic alteration.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02  /  RATIONALE &amp;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Build a Portfolio? — The Industry Need</a:t>
            </a:r>
          </a:p>
          <a:p>
            <a:pPr>
              <a:defRPr sz="1200">
                <a:solidFill>
                  <a:srgbClr val="A0A0B5"/>
                </a:solidFill>
              </a:defRPr>
            </a:pPr>
            <a:r>
              <a:t>Moving beyond static resumes to an interactive digital proof-of-work experience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42255" cy="1828800"/>
          </a:xfrm>
          <a:prstGeom prst="roundRect">
            <a:avLst/>
          </a:prstGeom>
          <a:solidFill>
            <a:srgbClr val="14141A"/>
          </a:solidFill>
          <a:ln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6936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B74D"/>
                </a:solidFill>
              </a:defRPr>
            </a:pPr>
            <a:r>
              <a:t>Limits of Static Resumes</a:t>
            </a:r>
          </a:p>
          <a:p>
            <a:pPr>
              <a:defRPr sz="1100">
                <a:solidFill>
                  <a:srgbClr val="A0A0B5"/>
                </a:solidFill>
              </a:defRPr>
            </a:pPr>
            <a:r>
              <a:t>Resumes fail to convey interaction design, motion physics, responsive layouts, or code quality.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42255" cy="1828800"/>
          </a:xfrm>
          <a:prstGeom prst="roundRect">
            <a:avLst/>
          </a:prstGeom>
          <a:solidFill>
            <a:srgbClr val="14141A"/>
          </a:solidFill>
          <a:ln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240280"/>
            <a:ext cx="46936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B74D"/>
                </a:solidFill>
              </a:defRPr>
            </a:pPr>
            <a:r>
              <a:t>Proof of Execution</a:t>
            </a:r>
          </a:p>
          <a:p>
            <a:pPr>
              <a:defRPr sz="1100">
                <a:solidFill>
                  <a:srgbClr val="A0A0B5"/>
                </a:solidFill>
              </a:defRPr>
            </a:pPr>
            <a:r>
              <a:t>A live functional portfolio provides concrete evidence of building ability from concept to production deployment.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5242255" cy="1828800"/>
          </a:xfrm>
          <a:prstGeom prst="roundRect">
            <a:avLst/>
          </a:prstGeom>
          <a:solidFill>
            <a:srgbClr val="14141A"/>
          </a:solidFill>
          <a:ln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46936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B74D"/>
                </a:solidFill>
              </a:defRPr>
            </a:pPr>
            <a:r>
              <a:t>Personal Brand &amp; Recall Value</a:t>
            </a:r>
          </a:p>
          <a:p>
            <a:pPr>
              <a:defRPr sz="1100">
                <a:solidFill>
                  <a:srgbClr val="A0A0B5"/>
                </a:solidFill>
              </a:defRPr>
            </a:pPr>
            <a:r>
              <a:t>A custom darkroom film aesthetic creates instant recall value for recruiters and engineering leads.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06240"/>
            <a:ext cx="5242255" cy="1828800"/>
          </a:xfrm>
          <a:prstGeom prst="roundRect">
            <a:avLst/>
          </a:prstGeom>
          <a:solidFill>
            <a:srgbClr val="14141A"/>
          </a:solidFill>
          <a:ln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434840"/>
            <a:ext cx="46936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B74D"/>
                </a:solidFill>
              </a:defRPr>
            </a:pPr>
            <a:r>
              <a:t>Continuous Innovation Laboratory</a:t>
            </a:r>
          </a:p>
          <a:p>
            <a:pPr>
              <a:defRPr sz="1100">
                <a:solidFill>
                  <a:srgbClr val="A0A0B5"/>
                </a:solidFill>
              </a:defRPr>
            </a:pPr>
            <a:r>
              <a:t>Serves as an active sandbox to experiment with cutting-edge web tools like HTML5 canvas scrubbing.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03  /  DESIGN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Core Design &amp; UX Principles Applied</a:t>
            </a:r>
          </a:p>
          <a:p>
            <a:pPr>
              <a:defRPr sz="1200">
                <a:solidFill>
                  <a:srgbClr val="A0A0B5"/>
                </a:solidFill>
              </a:defRPr>
            </a:pPr>
            <a:r>
              <a:t>Establishing optical hierarchy, theme tokens, spatial depth, and responsive feedback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42255" cy="1828800"/>
          </a:xfrm>
          <a:prstGeom prst="roundRect">
            <a:avLst/>
          </a:prstGeom>
          <a:solidFill>
            <a:srgbClr val="14141A"/>
          </a:solidFill>
          <a:ln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6936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E5FF"/>
                </a:solidFill>
              </a:defRPr>
            </a:pPr>
            <a:r>
              <a:t>Analog Film Aesthetic</a:t>
            </a:r>
          </a:p>
          <a:p>
            <a:pPr>
              <a:defRPr sz="1100">
                <a:solidFill>
                  <a:srgbClr val="A0A0B5"/>
                </a:solidFill>
              </a:defRPr>
            </a:pPr>
            <a:r>
              <a:t>Inspired by classic photography film stock (Kodak Gold 200, Portra 400, Cinestill 800T, Tri-X B&amp;W) with 6 dynamic profiles.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42255" cy="1828800"/>
          </a:xfrm>
          <a:prstGeom prst="roundRect">
            <a:avLst/>
          </a:prstGeom>
          <a:solidFill>
            <a:srgbClr val="14141A"/>
          </a:solidFill>
          <a:ln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240280"/>
            <a:ext cx="46936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E5FF"/>
                </a:solidFill>
              </a:defRPr>
            </a:pPr>
            <a:r>
              <a:t>Optical Typography Hierarchy</a:t>
            </a:r>
          </a:p>
          <a:p>
            <a:pPr>
              <a:defRPr sz="1100">
                <a:solidFill>
                  <a:srgbClr val="A0A0B5"/>
                </a:solidFill>
              </a:defRPr>
            </a:pPr>
            <a:r>
              <a:t>Combining Inter for high legibility body copy with monospace typography for technical metadata and frame counters.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5242255" cy="1828800"/>
          </a:xfrm>
          <a:prstGeom prst="roundRect">
            <a:avLst/>
          </a:prstGeom>
          <a:solidFill>
            <a:srgbClr val="14141A"/>
          </a:solidFill>
          <a:ln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46936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E5FF"/>
                </a:solidFill>
              </a:defRPr>
            </a:pPr>
            <a:r>
              <a:t>Glassmorphism &amp; Depth</a:t>
            </a:r>
          </a:p>
          <a:p>
            <a:pPr>
              <a:defRPr sz="1100">
                <a:solidFill>
                  <a:srgbClr val="A0A0B5"/>
                </a:solidFill>
              </a:defRPr>
            </a:pPr>
            <a:r>
              <a:t>Translucent card surfaces (`#14141A`), subtle glowing borders, and spatial layering for logical content separation.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06240"/>
            <a:ext cx="5242255" cy="1828800"/>
          </a:xfrm>
          <a:prstGeom prst="roundRect">
            <a:avLst/>
          </a:prstGeom>
          <a:solidFill>
            <a:srgbClr val="14141A"/>
          </a:solidFill>
          <a:ln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434840"/>
            <a:ext cx="46936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E5FF"/>
                </a:solidFill>
              </a:defRPr>
            </a:pPr>
            <a:r>
              <a:t>Micro-Interactions &amp; Feedback</a:t>
            </a:r>
          </a:p>
          <a:p>
            <a:pPr>
              <a:defRPr sz="1100">
                <a:solidFill>
                  <a:srgbClr val="A0A0B5"/>
                </a:solidFill>
              </a:defRPr>
            </a:pPr>
            <a:r>
              <a:t>Subtle hover states, custom cursor cues, ambient audio toggle, and keyboard shortcut toasts ('T' for theme switcher).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04  /  ENGINEERING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Technical &amp; Architectural Principles</a:t>
            </a:r>
          </a:p>
          <a:p>
            <a:pPr>
              <a:defRPr sz="1200">
                <a:solidFill>
                  <a:srgbClr val="A0A0B5"/>
                </a:solidFill>
              </a:defRPr>
            </a:pPr>
            <a:r>
              <a:t>Building for performance, code maintainability, and fluid animation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42255" cy="1828800"/>
          </a:xfrm>
          <a:prstGeom prst="roundRect">
            <a:avLst/>
          </a:prstGeom>
          <a:solidFill>
            <a:srgbClr val="14141A"/>
          </a:solidFill>
          <a:ln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6936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E5FF"/>
                </a:solidFill>
              </a:defRPr>
            </a:pPr>
            <a:r>
              <a:t>Canvas 2D Rendering Engine</a:t>
            </a:r>
          </a:p>
          <a:p>
            <a:pPr>
              <a:defRPr sz="1100">
                <a:solidFill>
                  <a:srgbClr val="A0A0B5"/>
                </a:solidFill>
              </a:defRPr>
            </a:pPr>
            <a:r>
              <a:t>Renders a 213-frame scroll sequence using HTML5 2D Canvas preloading, maintaining 60 FPS without WebGL overhead.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42255" cy="1828800"/>
          </a:xfrm>
          <a:prstGeom prst="roundRect">
            <a:avLst/>
          </a:prstGeom>
          <a:solidFill>
            <a:srgbClr val="14141A"/>
          </a:solidFill>
          <a:ln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240280"/>
            <a:ext cx="46936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E5FF"/>
                </a:solidFill>
              </a:defRPr>
            </a:pPr>
            <a:r>
              <a:t>Type-Safe Next.js Architecture</a:t>
            </a:r>
          </a:p>
          <a:p>
            <a:pPr>
              <a:defRPr sz="1100">
                <a:solidFill>
                  <a:srgbClr val="A0A0B5"/>
                </a:solidFill>
              </a:defRPr>
            </a:pPr>
            <a:r>
              <a:t>Built on Next.js 16 App Router and TypeScript, enforcing strict data schemas for projects, cards, and film themes.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5242255" cy="1828800"/>
          </a:xfrm>
          <a:prstGeom prst="roundRect">
            <a:avLst/>
          </a:prstGeom>
          <a:solidFill>
            <a:srgbClr val="14141A"/>
          </a:solidFill>
          <a:ln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46936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E5FF"/>
                </a:solidFill>
              </a:defRPr>
            </a:pPr>
            <a:r>
              <a:t>Instant CSS Token Themes</a:t>
            </a:r>
          </a:p>
          <a:p>
            <a:pPr>
              <a:defRPr sz="1100">
                <a:solidFill>
                  <a:srgbClr val="A0A0B5"/>
                </a:solidFill>
              </a:defRPr>
            </a:pPr>
            <a:r>
              <a:t>Theme updates modify CSS root custom properties in real time across the DOM without re-renders or page reloads.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06240"/>
            <a:ext cx="5242255" cy="1828800"/>
          </a:xfrm>
          <a:prstGeom prst="roundRect">
            <a:avLst/>
          </a:prstGeom>
          <a:solidFill>
            <a:srgbClr val="14141A"/>
          </a:solidFill>
          <a:ln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434840"/>
            <a:ext cx="46936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E5FF"/>
                </a:solidFill>
              </a:defRPr>
            </a:pPr>
            <a:r>
              <a:t>Physics-Driven Component State</a:t>
            </a:r>
          </a:p>
          <a:p>
            <a:pPr>
              <a:defRPr sz="1100">
                <a:solidFill>
                  <a:srgbClr val="A0A0B5"/>
                </a:solidFill>
              </a:defRPr>
            </a:pPr>
            <a:r>
              <a:t>Framer Motion spring physics drive card stacking, polaroid popups, and smooth modal transitions.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05  /  AUTHENTIC ARTIFACTS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Preserving Traditional Hand-Drawn Sketches</a:t>
            </a:r>
          </a:p>
          <a:p>
            <a:pPr>
              <a:defRPr sz="1200">
                <a:solidFill>
                  <a:srgbClr val="A0A0B5"/>
                </a:solidFill>
              </a:defRPr>
            </a:pPr>
            <a:r>
              <a:t>Authentic pencil &amp; graphite drawings created by Yatin (Original Works)</a:t>
            </a:r>
          </a:p>
        </p:txBody>
      </p:sp>
      <p:pic>
        <p:nvPicPr>
          <p:cNvPr id="6" name="Picture 5" descr="shivaji_maharaj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329184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3093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A0A0B5"/>
                </a:solidFill>
              </a:defRPr>
            </a:pPr>
            <a:r>
              <a:t>Chhatrapati Shivaji Maharaj Sketch</a:t>
            </a:r>
          </a:p>
        </p:txBody>
      </p:sp>
      <p:pic>
        <p:nvPicPr>
          <p:cNvPr id="8" name="Picture 7" descr="red_accent_portrai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011680"/>
            <a:ext cx="3291840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89120" y="63093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A0A0B5"/>
                </a:solidFill>
              </a:defRPr>
            </a:pPr>
            <a:r>
              <a:t>Red Accent Portrait Sketch</a:t>
            </a:r>
          </a:p>
        </p:txBody>
      </p:sp>
      <p:pic>
        <p:nvPicPr>
          <p:cNvPr id="10" name="Picture 9" descr="anklet_red_accent_sketch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2011680"/>
            <a:ext cx="3291840" cy="4297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20" y="63093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A0A0B5"/>
                </a:solidFill>
              </a:defRPr>
            </a:pPr>
            <a:r>
              <a:t>Anklet &amp; Payal Sketch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06  /  EVENT MOMENTS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Hackathon Timeline &amp; Real Event Photos</a:t>
            </a:r>
          </a:p>
          <a:p>
            <a:pPr>
              <a:defRPr sz="1200">
                <a:solidFill>
                  <a:srgbClr val="A0A0B5"/>
                </a:solidFill>
              </a:defRPr>
            </a:pPr>
            <a:r>
              <a:t>Live photos from Smart India Hackathon, Mobile Expo, and Tech Fiesta</a:t>
            </a:r>
          </a:p>
        </p:txBody>
      </p:sp>
      <p:pic>
        <p:nvPicPr>
          <p:cNvPr id="6" name="Picture 5" descr="sih_2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329184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3093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A0A0B5"/>
                </a:solidFill>
              </a:defRPr>
            </a:pPr>
            <a:r>
              <a:t>Smart India Hackathon 2025</a:t>
            </a:r>
          </a:p>
        </p:txBody>
      </p:sp>
      <p:pic>
        <p:nvPicPr>
          <p:cNvPr id="8" name="Picture 7" descr="mobile_app_exp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011680"/>
            <a:ext cx="3291840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89120" y="63093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A0A0B5"/>
                </a:solidFill>
              </a:defRPr>
            </a:pPr>
            <a:r>
              <a:t>Mobile App Development Expo</a:t>
            </a:r>
          </a:p>
        </p:txBody>
      </p:sp>
      <p:pic>
        <p:nvPicPr>
          <p:cNvPr id="10" name="Picture 9" descr="nmfiesta_2025_grou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2011680"/>
            <a:ext cx="3291840" cy="4297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20" y="63093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A0A0B5"/>
                </a:solidFill>
              </a:defRPr>
            </a:pPr>
            <a:r>
              <a:t>NMIMS Tech Fiesta 2025 Team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07  /  DESIGN 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Design &amp; UX Insights Gained</a:t>
            </a:r>
          </a:p>
          <a:p>
            <a:pPr>
              <a:defRPr sz="1200">
                <a:solidFill>
                  <a:srgbClr val="A0A0B5"/>
                </a:solidFill>
              </a:defRPr>
            </a:pPr>
            <a:r>
              <a:t>Insights from color theory, scroll mechanics, and spatial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42255" cy="1828800"/>
          </a:xfrm>
          <a:prstGeom prst="roundRect">
            <a:avLst/>
          </a:prstGeom>
          <a:solidFill>
            <a:srgbClr val="14141A"/>
          </a:solidFill>
          <a:ln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6936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B74D"/>
                </a:solidFill>
              </a:defRPr>
            </a:pPr>
            <a:r>
              <a:t>Color Theory in Dynamic Themes</a:t>
            </a:r>
          </a:p>
          <a:p>
            <a:pPr>
              <a:defRPr sz="1100">
                <a:solidFill>
                  <a:srgbClr val="A0A0B5"/>
                </a:solidFill>
              </a:defRPr>
            </a:pPr>
            <a:r>
              <a:t>Creating 6 film color profiles required strict token abstraction to guarantee text legibility across all theme switches.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42255" cy="1828800"/>
          </a:xfrm>
          <a:prstGeom prst="roundRect">
            <a:avLst/>
          </a:prstGeom>
          <a:solidFill>
            <a:srgbClr val="14141A"/>
          </a:solidFill>
          <a:ln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240280"/>
            <a:ext cx="46936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B74D"/>
                </a:solidFill>
              </a:defRPr>
            </a:pPr>
            <a:r>
              <a:t>Balancing Novelty &amp; Usability</a:t>
            </a:r>
          </a:p>
          <a:p>
            <a:pPr>
              <a:defRPr sz="1100">
                <a:solidFill>
                  <a:srgbClr val="A0A0B5"/>
                </a:solidFill>
              </a:defRPr>
            </a:pPr>
            <a:r>
              <a:t>Scrolljacked canvas animation offers a cinematic entry, but seamlessly returns control to natural page scrolling.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5242255" cy="1828800"/>
          </a:xfrm>
          <a:prstGeom prst="roundRect">
            <a:avLst/>
          </a:prstGeom>
          <a:solidFill>
            <a:srgbClr val="14141A"/>
          </a:solidFill>
          <a:ln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46936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B74D"/>
                </a:solidFill>
              </a:defRPr>
            </a:pPr>
            <a:r>
              <a:t>Spatial Margin Planning</a:t>
            </a:r>
          </a:p>
          <a:p>
            <a:pPr>
              <a:defRPr sz="1100">
                <a:solidFill>
                  <a:srgbClr val="A0A0B5"/>
                </a:solidFill>
              </a:defRPr>
            </a:pPr>
            <a:r>
              <a:t>Reserving empty margin space around 3D card decks allowed floating polaroids to animate without cluttering copy.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06240"/>
            <a:ext cx="5242255" cy="1828800"/>
          </a:xfrm>
          <a:prstGeom prst="roundRect">
            <a:avLst/>
          </a:prstGeom>
          <a:solidFill>
            <a:srgbClr val="14141A"/>
          </a:solidFill>
          <a:ln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434840"/>
            <a:ext cx="46936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B74D"/>
                </a:solidFill>
              </a:defRPr>
            </a:pPr>
            <a:r>
              <a:t>Accessibility Standards</a:t>
            </a:r>
          </a:p>
          <a:p>
            <a:pPr>
              <a:defRPr sz="1100">
                <a:solidFill>
                  <a:srgbClr val="A0A0B5"/>
                </a:solidFill>
              </a:defRPr>
            </a:pPr>
            <a:r>
              <a:t>Enforcing strict WCAG contrast ratios while preserving an authentic darkroom visual aesthetic.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08  /  TECHNICAL 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Technical &amp; Engineering Insights Gained</a:t>
            </a:r>
          </a:p>
          <a:p>
            <a:pPr>
              <a:defRPr sz="1200">
                <a:solidFill>
                  <a:srgbClr val="A0A0B5"/>
                </a:solidFill>
              </a:defRPr>
            </a:pPr>
            <a:r>
              <a:t>Overcoming browser rendering bottlenecks and state synchronization challenges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42255" cy="1828800"/>
          </a:xfrm>
          <a:prstGeom prst="roundRect">
            <a:avLst/>
          </a:prstGeom>
          <a:solidFill>
            <a:srgbClr val="14141A"/>
          </a:solidFill>
          <a:ln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6936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E5FF"/>
                </a:solidFill>
              </a:defRPr>
            </a:pPr>
            <a:r>
              <a:t>Canvas Image Preloading Cache</a:t>
            </a:r>
          </a:p>
          <a:p>
            <a:pPr>
              <a:defRPr sz="1100">
                <a:solidFill>
                  <a:srgbClr val="A0A0B5"/>
                </a:solidFill>
              </a:defRPr>
            </a:pPr>
            <a:r>
              <a:t>Preloading 213 frames into HTMLImageElement memory cache eliminated rendering flicker during fast scroll scrubbing.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42255" cy="1828800"/>
          </a:xfrm>
          <a:prstGeom prst="roundRect">
            <a:avLst/>
          </a:prstGeom>
          <a:solidFill>
            <a:srgbClr val="14141A"/>
          </a:solidFill>
          <a:ln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240280"/>
            <a:ext cx="46936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E5FF"/>
                </a:solidFill>
              </a:defRPr>
            </a:pPr>
            <a:r>
              <a:t>Layout Thrashing Prevention</a:t>
            </a:r>
          </a:p>
          <a:p>
            <a:pPr>
              <a:defRPr sz="1100">
                <a:solidFill>
                  <a:srgbClr val="A0A0B5"/>
                </a:solidFill>
              </a:defRPr>
            </a:pPr>
            <a:r>
              <a:t>Debouncing resize listeners and caching canvas container bounds maintained steady 60 FPS render loops.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5242255" cy="1828800"/>
          </a:xfrm>
          <a:prstGeom prst="roundRect">
            <a:avLst/>
          </a:prstGeom>
          <a:solidFill>
            <a:srgbClr val="14141A"/>
          </a:solidFill>
          <a:ln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46936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E5FF"/>
                </a:solidFill>
              </a:defRPr>
            </a:pPr>
            <a:r>
              <a:t>State Optimization via CSS Tokens</a:t>
            </a:r>
          </a:p>
          <a:p>
            <a:pPr>
              <a:defRPr sz="1100">
                <a:solidFill>
                  <a:srgbClr val="A0A0B5"/>
                </a:solidFill>
              </a:defRPr>
            </a:pPr>
            <a:r>
              <a:t>Pairing React Context with root CSS custom properties enabled instant global theme switching with zero DOM re-renders.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06240"/>
            <a:ext cx="5242255" cy="1828800"/>
          </a:xfrm>
          <a:prstGeom prst="roundRect">
            <a:avLst/>
          </a:prstGeom>
          <a:solidFill>
            <a:srgbClr val="14141A"/>
          </a:solidFill>
          <a:ln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434840"/>
            <a:ext cx="46936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0E5FF"/>
                </a:solidFill>
              </a:defRPr>
            </a:pPr>
            <a:r>
              <a:t>Framer Motion Physics Tuning</a:t>
            </a:r>
          </a:p>
          <a:p>
            <a:pPr>
              <a:defRPr sz="1100">
                <a:solidFill>
                  <a:srgbClr val="A0A0B5"/>
                </a:solidFill>
              </a:defRPr>
            </a:pPr>
            <a:r>
              <a:t>Adjusting stiffness and damping parameters created fluid 3D card deck shuffling without animation jitter.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09  / 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 &amp; Future Architectural Roadmap</a:t>
            </a:r>
          </a:p>
          <a:p>
            <a:pPr>
              <a:defRPr sz="1200">
                <a:solidFill>
                  <a:srgbClr val="A0A0B5"/>
                </a:solidFill>
              </a:defRPr>
            </a:pPr>
            <a:r>
              <a:t>Summary of project impact and upcoming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28655" cy="1280160"/>
          </a:xfrm>
          <a:prstGeom prst="roundRect">
            <a:avLst/>
          </a:prstGeom>
          <a:solidFill>
            <a:srgbClr val="14141A"/>
          </a:solidFill>
          <a:ln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01800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E5FF"/>
                </a:solidFill>
              </a:defRPr>
            </a:pPr>
            <a:r>
              <a:t>Project Summary</a:t>
            </a:r>
          </a:p>
          <a:p>
            <a:pPr>
              <a:defRPr sz="1100">
                <a:solidFill>
                  <a:srgbClr val="A0A0B5"/>
                </a:solidFill>
              </a:defRPr>
            </a:pPr>
            <a:r>
              <a:t>The portfolio successfully unifies an analog film visual identity with modern full-stack web engineering, delivering a memorable, high-performance experience.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728655" cy="1280160"/>
          </a:xfrm>
          <a:prstGeom prst="roundRect">
            <a:avLst/>
          </a:prstGeom>
          <a:solidFill>
            <a:srgbClr val="14141A"/>
          </a:solidFill>
          <a:ln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800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E5FF"/>
                </a:solidFill>
              </a:defRPr>
            </a:pPr>
            <a:r>
              <a:t>Measurable Impact</a:t>
            </a:r>
          </a:p>
          <a:p>
            <a:pPr>
              <a:defRPr sz="1100">
                <a:solidFill>
                  <a:srgbClr val="A0A0B5"/>
                </a:solidFill>
              </a:defRPr>
            </a:pPr>
            <a:r>
              <a:t>Provides a compelling, interactive showcase of full-stack engineering skills, UI/UX craftsmanship, and authentic creative endeavors.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37760"/>
            <a:ext cx="10728655" cy="1280160"/>
          </a:xfrm>
          <a:prstGeom prst="roundRect">
            <a:avLst/>
          </a:prstGeom>
          <a:solidFill>
            <a:srgbClr val="14141A"/>
          </a:solidFill>
          <a:ln>
            <a:solidFill>
              <a:srgbClr val="22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120640"/>
            <a:ext cx="101800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E5FF"/>
                </a:solidFill>
              </a:defRPr>
            </a:pPr>
            <a:r>
              <a:t>Future Enhancements</a:t>
            </a:r>
          </a:p>
          <a:p>
            <a:pPr>
              <a:defRPr sz="1100">
                <a:solidFill>
                  <a:srgbClr val="A0A0B5"/>
                </a:solidFill>
              </a:defRPr>
            </a:pPr>
            <a:r>
              <a:t>Integrating a WebGL 3D darkroom photo enlarger simulator, an MDX technical blog engine, and automated CI/CD deployment pipelines.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