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6" r:id="rId11"/>
    <p:sldId id="267" r:id="rId12"/>
    <p:sldId id="268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30878" autoAdjust="0"/>
    <p:restoredTop sz="94610"/>
  </p:normalViewPr>
  <p:slideViewPr>
    <p:cSldViewPr snapToGrid="0" snapToObjects="1">
      <p:cViewPr varScale="1">
        <p:scale>
          <a:sx n="80" d="100"/>
          <a:sy n="80" d="100"/>
        </p:scale>
        <p:origin x="53" y="1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593486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to the architecture breakdown of The Darkroom portfolio. In this presentation, I will detail the engineering, design principles, and tactile interaction models created for my personal site. The goal was to break away from generic templates and craft an authentic digital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My objective was clear: replace passive resume text with active, verifiable software prototypes. Here you see project 01, featuring interactive sample data toggles so visitors can test interface behaviors live on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details the strategic rationale behind the site. Recruiters do not just want static screenshots; they want proof of engineering execution, problem-solving depth, and attention to micro-interactions.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central creative concept is the darkroom safelight. Red accent light illuminated across the portrait eyes in the hero section directly translates into interface behavior: hovering over contact frames exposes details and ignites surrounding light.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four principles guided every engineering decision. Motion is never purely aesthetic—it communicates state change. Tactile feedback reassures the user, while production rigor ensures high performance.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 on slide 6 we analyze visual design hierarchy. The numbered red markers on the left correspond directly to the text breakdown on the right: display headline, role label, and safelight accent emphasis.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Gestalt principles ensure intuitive scanning. Proximity groups frame elements; similarity establishes structural consistency; figure-ground separates lit active frames from dark inactive background frames.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demonstrates the complete frame development pipeline. When clicked, a frame progresses through raw, lit, mid-develop, and developed states, unlocking interactive mini-apps like the chess puzzle shown below.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10 provides a complete anatomical inventory of the site. Each card features a tight screenshot, section name, and 1-line plain language interaction definition verified directly against codebase components.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11 expands the design system into three distinct zones: color tokens and fonts on the left, micro-interaction component states in the middle, and live film stock themes on the 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Engineering is an iterative learning process. Here I highlight four real production challenges encountered while building The Darkroom, along with the implemented code fixes and architecture insights gained.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you for reviewing The Darkroom portfolio. The complete codebase is deployed live at yatinportfolio.vercel.app. I welcome your questions and feedback on the implementation.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E1D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08660"/>
            <a:ext cx="4937760" cy="530352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/>
          <a:effectLst>
            <a:outerShdw blurRad="152400" dist="508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731520" y="10972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326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DARKROOM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381863"/>
            <a:ext cx="4434840" cy="61955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800"/>
              </a:lnSpc>
              <a:buNone/>
            </a:pPr>
            <a:r>
              <a:rPr lang="en-US" sz="2400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Personal Portfolio</a:t>
            </a:r>
          </a:p>
        </p:txBody>
      </p:sp>
      <p:sp>
        <p:nvSpPr>
          <p:cNvPr id="5" name="Text 3"/>
          <p:cNvSpPr/>
          <p:nvPr/>
        </p:nvSpPr>
        <p:spPr>
          <a:xfrm>
            <a:off x="731520" y="3129487"/>
            <a:ext cx="4572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ts val="1800"/>
              </a:lnSpc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Name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Yatin Patil</a:t>
            </a:r>
          </a:p>
          <a:p>
            <a:pPr>
              <a:lnSpc>
                <a:spcPts val="1800"/>
              </a:lnSpc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Roll No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A201</a:t>
            </a:r>
          </a:p>
          <a:p>
            <a:pPr>
              <a:lnSpc>
                <a:spcPts val="1800"/>
              </a:lnSpc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Program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B. Tech Information Technology</a:t>
            </a:r>
          </a:p>
          <a:p>
            <a:pPr>
              <a:lnSpc>
                <a:spcPts val="1800"/>
              </a:lnSpc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Subject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:UIUX</a:t>
            </a:r>
          </a:p>
        </p:txBody>
      </p:sp>
      <p:sp>
        <p:nvSpPr>
          <p:cNvPr id="6" name="Shape 4"/>
          <p:cNvSpPr/>
          <p:nvPr/>
        </p:nvSpPr>
        <p:spPr>
          <a:xfrm>
            <a:off x="731520" y="4754880"/>
            <a:ext cx="4572000" cy="822960"/>
          </a:xfrm>
          <a:prstGeom prst="roundRect">
            <a:avLst>
              <a:gd name="adj" fmla="val 8889"/>
            </a:avLst>
          </a:prstGeom>
          <a:solidFill>
            <a:srgbClr val="FFE1D5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4892040"/>
            <a:ext cx="4297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YATIN PATIL  </a:t>
            </a: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Site: https://yatinportfolio.vercel.app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669280" y="731520"/>
            <a:ext cx="5971032" cy="5303520"/>
          </a:xfrm>
          <a:prstGeom prst="roundRect">
            <a:avLst>
              <a:gd name="adj" fmla="val 1852"/>
            </a:avLst>
          </a:prstGeom>
          <a:solidFill>
            <a:srgbClr val="FFB9A0"/>
          </a:solidFill>
          <a:ln w="12700">
            <a:solidFill>
              <a:srgbClr val="FFB9A0"/>
            </a:solidFill>
            <a:prstDash val="solid"/>
          </a:ln>
        </p:spPr>
      </p:sp>
      <p:pic>
        <p:nvPicPr>
          <p:cNvPr id="9" name="Image 0" descr="E:\SELF\portfolio\scratch\deck_builder\assets\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8172" y="1691640"/>
            <a:ext cx="5413248" cy="33832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" y="644652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4F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Introduction  |  Slide 1 of 12  |  The Darkroom Portfolio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1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A5A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OBJECTIVES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Objectives &amp; Tactile Engineering Goals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530352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A5A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 THE PROBLEM WITH MODERN PORTFOLIOS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developer portfolios feel identical: generic cards, static grids, and uninspired layouts. They fail to convey technical craftsmanship, tactile interaction quality, or personal brand identity.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749040"/>
            <a:ext cx="530352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9319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A5A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 CORE ENGINEERING OBJECTIVE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429768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a high-performance web app anchored in analog darkroom aesthetics. Integrate real interactive prototypes with explicit "Sample data" labels to maintain complete honesty and tactile engagement.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26480" y="1280160"/>
            <a:ext cx="5486400" cy="4754880"/>
          </a:xfrm>
          <a:prstGeom prst="roundRect">
            <a:avLst>
              <a:gd name="adj" fmla="val 1923"/>
            </a:avLst>
          </a:prstGeom>
          <a:solidFill>
            <a:srgbClr val="FFD866"/>
          </a:solidFill>
          <a:ln w="12700">
            <a:solidFill>
              <a:srgbClr val="FFD866"/>
            </a:solidFill>
            <a:prstDash val="solid"/>
          </a:ln>
        </p:spPr>
      </p:sp>
      <p:pic>
        <p:nvPicPr>
          <p:cNvPr id="11" name="Image 0" descr="E:\SELF\portfolio\scratch\deck_builder\assets\work_prototyp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463040"/>
            <a:ext cx="5120640" cy="320040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309360" y="4846320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4F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Selected Work section featuring real interactive state toggles and micro interaction to engage the user.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48640" y="644652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4F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Objectives and Need  |  Slide 2 </a:t>
            </a:r>
            <a:r>
              <a:rPr lang="en-US" sz="900">
                <a:solidFill>
                  <a:srgbClr val="4A4F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12  </a:t>
            </a:r>
            <a:r>
              <a:rPr lang="en-US" sz="900" dirty="0">
                <a:solidFill>
                  <a:srgbClr val="4A4F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|  The Darkroom Portfolio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1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A5A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STRATEGY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Build "The Darkroom"? Strategic Need &amp; Differentiator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474720" cy="466344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/>
          <a:effectLst>
            <a:outerShdw blurRad="127000" dist="38100" dir="16200000" algn="bl" rotWithShape="0">
              <a:srgbClr val="000000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6459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8A5A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22960" y="21031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AUDIENCE NEED</a:t>
            </a: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22960" y="2278532"/>
            <a:ext cx="292608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400" dirty="0">
                <a:solidFill>
                  <a:srgbClr val="4A4F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 leads and senior recruiters review hundreds of portfolio links weekly. They need instant visual impact paired with verifiable front-end rigor.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297680" y="1371600"/>
            <a:ext cx="3474720" cy="466344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/>
          <a:effectLst>
            <a:outerShdw blurRad="127000" dist="38100" dir="16200000" algn="bl" rotWithShape="0">
              <a:srgbClr val="000000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72000" y="16459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8A5A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572000" y="21031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DIFFERENTIATOR</a:t>
            </a: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572000" y="2278532"/>
            <a:ext cx="292608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400" dirty="0">
                <a:solidFill>
                  <a:srgbClr val="4A4F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Instead of abstract mockups, the Darkroom provides real working mini-apps: chess puzzle, audio drum pad, football mini game and customizable film stock themes.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046720" y="1371600"/>
            <a:ext cx="3474720" cy="466344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/>
          <a:effectLst>
            <a:outerShdw blurRad="127000" dist="38100" dir="16200000" algn="bl" rotWithShape="0">
              <a:srgbClr val="000000">
                <a:alpha val="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321040" y="16459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8A5A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8321040" y="21031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PROVEN RIGOR</a:t>
            </a: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321040" y="2278532"/>
            <a:ext cx="292608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400" dirty="0">
                <a:solidFill>
                  <a:srgbClr val="4A4F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Built with Next.js 14, Framer Motion, custom HTML5 canvas video scrubbing, and fully accessible ARIA focus management verified across responsive viewports.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" y="644652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4F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Objectives and Need  |  Slide 3 of 12  |  The Darkroom Portfolio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1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A5A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CONCEPT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Concept: The Darkroom Safelight Metaphor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5303520" cy="3931920"/>
          </a:xfrm>
          <a:prstGeom prst="roundRect">
            <a:avLst>
              <a:gd name="adj" fmla="val 2326"/>
            </a:avLst>
          </a:prstGeom>
          <a:solidFill>
            <a:srgbClr val="FFD866"/>
          </a:solidFill>
          <a:ln w="12700">
            <a:solidFill>
              <a:srgbClr val="FFD866"/>
            </a:solidFill>
            <a:prstDash val="solid"/>
          </a:ln>
        </p:spPr>
      </p:sp>
      <p:pic>
        <p:nvPicPr>
          <p:cNvPr id="5" name="Image 0" descr="E:\SELF\portfolio\scratch\deck_builder\assets\concept_b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463040"/>
            <a:ext cx="4937760" cy="35661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126480" y="1280160"/>
            <a:ext cx="5486400" cy="3931920"/>
          </a:xfrm>
          <a:prstGeom prst="roundRect">
            <a:avLst>
              <a:gd name="adj" fmla="val 2326"/>
            </a:avLst>
          </a:prstGeom>
          <a:solidFill>
            <a:srgbClr val="FFD866"/>
          </a:solidFill>
          <a:ln w="12700">
            <a:solidFill>
              <a:srgbClr val="FFD866"/>
            </a:solidFill>
            <a:prstDash val="solid"/>
          </a:ln>
        </p:spPr>
      </p:sp>
      <p:pic>
        <p:nvPicPr>
          <p:cNvPr id="7" name="Image 1" descr="E:\SELF\portfolio\scratch\deck_builder\assets\concept_she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463040"/>
            <a:ext cx="5120640" cy="3566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5394960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9" name="Text 5"/>
          <p:cNvSpPr/>
          <p:nvPr/>
        </p:nvSpPr>
        <p:spPr>
          <a:xfrm>
            <a:off x="731520" y="55321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Light in the hero becomes light in the interface: Hovering over darkroom frames ignites safelight illumination, dimming neighboring frames to bring focal contrast to active elements.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548640" y="644652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4F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Objectives and Need  |  Slide 4 of 12  |  The Darkroom Portfolio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8F1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B64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CORE PRINCIPLES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Core Engineering &amp; Design Principles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539496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55448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64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645920" y="15544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Purposeful Motion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2103120"/>
            <a:ext cx="4754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600" dirty="0">
                <a:solidFill>
                  <a:srgbClr val="4A4F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Physics-based Framer Motion springs with reduced-motion fallback options for user accessibility.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217920" y="1280160"/>
            <a:ext cx="539496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0" y="155448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64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7315200" y="15544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Tactile Feedback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92240" y="2103120"/>
            <a:ext cx="4754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600" dirty="0">
                <a:solidFill>
                  <a:srgbClr val="4A4F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 cursor states, audio cues, and instant visual state feedback on every interactive element.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3657600"/>
            <a:ext cx="539496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393192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64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1645920" y="393192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Content-First Layouts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822960" y="4480560"/>
            <a:ext cx="4754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600" dirty="0">
                <a:solidFill>
                  <a:srgbClr val="4A4F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decorative clutter. High-contrast typography and strict grid alignments guide the user flow.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217920" y="3657600"/>
            <a:ext cx="539496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6492240" y="393192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64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7315200" y="393192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Production Rigor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492240" y="4480560"/>
            <a:ext cx="4754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600" dirty="0">
                <a:solidFill>
                  <a:srgbClr val="4A4F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TypeScript type safety, SSR hydration compatibility, zero layout shifts, and 100% verified claims.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48640" y="644652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4F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Principles  |  Slide 5 of 12  |  The Darkroom Portfolio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8F1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B64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VISUAL DESIGN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Visual Design: Hierarchy &amp; Typography Pairing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5669280" cy="4754880"/>
          </a:xfrm>
          <a:prstGeom prst="roundRect">
            <a:avLst>
              <a:gd name="adj" fmla="val 1923"/>
            </a:avLst>
          </a:prstGeom>
          <a:solidFill>
            <a:srgbClr val="8FD3DC"/>
          </a:solidFill>
          <a:ln w="12700">
            <a:solidFill>
              <a:srgbClr val="8FD3DC"/>
            </a:solidFill>
            <a:prstDash val="solid"/>
          </a:ln>
        </p:spPr>
      </p:sp>
      <p:pic>
        <p:nvPicPr>
          <p:cNvPr id="5" name="Image 0" descr="E:\SELF\portfolio\scratch\deck_builder\assets\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463040"/>
            <a:ext cx="5303520" cy="33147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588" y="3287153"/>
            <a:ext cx="292608" cy="292608"/>
          </a:xfrm>
          <a:prstGeom prst="ellipse">
            <a:avLst/>
          </a:prstGeom>
          <a:solidFill>
            <a:srgbClr val="0B647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588" y="3287153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32968" y="2855289"/>
            <a:ext cx="292608" cy="292608"/>
          </a:xfrm>
          <a:prstGeom prst="ellipse">
            <a:avLst/>
          </a:prstGeom>
          <a:solidFill>
            <a:srgbClr val="0B647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32968" y="2855289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40588" y="3682393"/>
            <a:ext cx="292608" cy="292608"/>
          </a:xfrm>
          <a:prstGeom prst="ellipse">
            <a:avLst/>
          </a:prstGeom>
          <a:solidFill>
            <a:srgbClr val="0B647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588" y="3682393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400800" y="1280160"/>
            <a:ext cx="521208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</p:sp>
      <p:sp>
        <p:nvSpPr>
          <p:cNvPr id="13" name="Text 10"/>
          <p:cNvSpPr/>
          <p:nvPr/>
        </p:nvSpPr>
        <p:spPr>
          <a:xfrm>
            <a:off x="6583680" y="141732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64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Display Hierarchy 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583680" y="1737360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 700 bold typography at clamp ensures instant readability and commanding presence.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400800" y="2880360"/>
            <a:ext cx="521208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</p:sp>
      <p:sp>
        <p:nvSpPr>
          <p:cNvPr id="16" name="Text 13"/>
          <p:cNvSpPr/>
          <p:nvPr/>
        </p:nvSpPr>
        <p:spPr>
          <a:xfrm>
            <a:off x="6583680" y="301752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64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Role Label (Mono/Sans Pairing)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583680" y="3337560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Upper-case role label paired with clean sans-serif body text.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400800" y="4480560"/>
            <a:ext cx="521208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</p:sp>
      <p:sp>
        <p:nvSpPr>
          <p:cNvPr id="19" name="Text 16"/>
          <p:cNvSpPr/>
          <p:nvPr/>
        </p:nvSpPr>
        <p:spPr>
          <a:xfrm>
            <a:off x="6583680" y="461772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64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Accent Focus Word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583680" y="4937760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Framer Motion spring-animated italic accent word ("effortless.") highlighted with safelight red token.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548640" y="644652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4F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Principles  |  Slide 6 of 12  |  The Darkroom Portfolio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8F1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B64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GESTALT &amp; LAYOUT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Gestalt Principles in Beyond </a:t>
            </a:r>
            <a:r>
              <a:rPr lang="en-US" sz="2200" b="1" dirty="0">
                <a:solidFill>
                  <a:srgbClr val="C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Pixels </a:t>
            </a:r>
            <a:r>
              <a:rPr lang="en-US" sz="2200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Layout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5669280" cy="4754880"/>
          </a:xfrm>
          <a:prstGeom prst="roundRect">
            <a:avLst>
              <a:gd name="adj" fmla="val 1923"/>
            </a:avLst>
          </a:prstGeom>
          <a:solidFill>
            <a:srgbClr val="8FD3DC"/>
          </a:solidFill>
          <a:ln w="12700">
            <a:solidFill>
              <a:srgbClr val="8FD3DC"/>
            </a:solidFill>
            <a:prstDash val="solid"/>
          </a:ln>
        </p:spPr>
      </p:sp>
      <p:pic>
        <p:nvPicPr>
          <p:cNvPr id="5" name="Image 0" descr="E:\SELF\portfolio\scratch\deck_builder\assets\sheet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463040"/>
            <a:ext cx="5303520" cy="33147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102373" y="2420087"/>
            <a:ext cx="292608" cy="292608"/>
          </a:xfrm>
          <a:prstGeom prst="ellipse">
            <a:avLst/>
          </a:prstGeom>
          <a:solidFill>
            <a:srgbClr val="0B647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2102373" y="2420087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1131574" y="1953357"/>
            <a:ext cx="292608" cy="292608"/>
          </a:xfrm>
          <a:prstGeom prst="ellipse">
            <a:avLst/>
          </a:prstGeom>
          <a:solidFill>
            <a:srgbClr val="0B647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131574" y="1953357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505477" y="2273783"/>
            <a:ext cx="292608" cy="292608"/>
          </a:xfrm>
          <a:prstGeom prst="ellipse">
            <a:avLst/>
          </a:prstGeom>
          <a:solidFill>
            <a:srgbClr val="0B647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505477" y="2273783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400800" y="1280160"/>
            <a:ext cx="521208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/>
        </p:spPr>
      </p:sp>
      <p:sp>
        <p:nvSpPr>
          <p:cNvPr id="13" name="Text 10"/>
          <p:cNvSpPr/>
          <p:nvPr/>
        </p:nvSpPr>
        <p:spPr>
          <a:xfrm>
            <a:off x="6583680" y="1371600"/>
            <a:ext cx="4846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64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Proximity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583680" y="1627632"/>
            <a:ext cx="4846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24px grid gaps group frame headers, sprocket holes, and previews into distinct semantic cards.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400800" y="2468880"/>
            <a:ext cx="521208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/>
        </p:spPr>
      </p:sp>
      <p:sp>
        <p:nvSpPr>
          <p:cNvPr id="16" name="Text 13"/>
          <p:cNvSpPr/>
          <p:nvPr/>
        </p:nvSpPr>
        <p:spPr>
          <a:xfrm>
            <a:off x="6583680" y="2560320"/>
            <a:ext cx="4846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64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Similarity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583680" y="2816352"/>
            <a:ext cx="4846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Identical 16px border-radius containers maintain visual rhythm across all 6 darkroom frames.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400800" y="3657600"/>
            <a:ext cx="521208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/>
        </p:spPr>
      </p:sp>
      <p:sp>
        <p:nvSpPr>
          <p:cNvPr id="19" name="Text 16"/>
          <p:cNvSpPr/>
          <p:nvPr/>
        </p:nvSpPr>
        <p:spPr>
          <a:xfrm>
            <a:off x="6583680" y="3749040"/>
            <a:ext cx="4846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64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Figure &amp; Ground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6583680" y="4005072"/>
            <a:ext cx="4846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Hovering a frame ignites safelight borders while dimming surrounding frames for focal focus.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400800" y="4846320"/>
            <a:ext cx="521208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/>
        </p:spPr>
      </p:sp>
      <p:sp>
        <p:nvSpPr>
          <p:cNvPr id="22" name="Text 19"/>
          <p:cNvSpPr/>
          <p:nvPr/>
        </p:nvSpPr>
        <p:spPr>
          <a:xfrm>
            <a:off x="6583680" y="4937760"/>
            <a:ext cx="4846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64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Grid Breakpoints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583680" y="5193792"/>
            <a:ext cx="4846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Responsive auto-fit layout switches cleanly: 3 cols (desktop), 2 cols (tablet), 1 col (mobile).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548640" y="644652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4F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Principles  |  Slide 7 of 12  |  The Darkroom Portfolio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8F1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B64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INTERACTION DESIGN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Interaction &amp; Development Physics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2606040" cy="28346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/>
        </p:spPr>
      </p:sp>
      <p:pic>
        <p:nvPicPr>
          <p:cNvPr id="5" name="Image 0" descr="E:\SELF\portfolio\scratch\deck_builder\assets\frame_ra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417320"/>
            <a:ext cx="2331720" cy="1828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333756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64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RAW STATE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40080" y="3566160"/>
            <a:ext cx="2423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F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Blur filter &amp; sepia tint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383280" y="1280160"/>
            <a:ext cx="2606040" cy="28346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/>
        </p:spPr>
      </p:sp>
      <p:sp>
        <p:nvSpPr>
          <p:cNvPr id="10" name="Text 6"/>
          <p:cNvSpPr/>
          <p:nvPr/>
        </p:nvSpPr>
        <p:spPr>
          <a:xfrm>
            <a:off x="3474720" y="333756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64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HOVER LIT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3474720" y="3566160"/>
            <a:ext cx="2423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F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Safelight glow ignited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217920" y="1280160"/>
            <a:ext cx="2606040" cy="28346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/>
        </p:spPr>
      </p:sp>
      <p:pic>
        <p:nvPicPr>
          <p:cNvPr id="13" name="Image 2" descr="E:\SELF\portfolio\scratch\deck_builder\assets\frame_develop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1417320"/>
            <a:ext cx="2331720" cy="18288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309360" y="333756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64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MID-DEVELOP</a:t>
            </a:r>
            <a:endParaRPr lang="en-US" sz="1100" dirty="0"/>
          </a:p>
        </p:txBody>
      </p:sp>
      <p:sp>
        <p:nvSpPr>
          <p:cNvPr id="15" name="Text 10"/>
          <p:cNvSpPr/>
          <p:nvPr/>
        </p:nvSpPr>
        <p:spPr>
          <a:xfrm>
            <a:off x="6309360" y="3566160"/>
            <a:ext cx="2423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F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Burst animation transition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9052560" y="1280160"/>
            <a:ext cx="2606040" cy="28346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/>
        </p:spPr>
      </p:sp>
      <p:sp>
        <p:nvSpPr>
          <p:cNvPr id="18" name="Text 12"/>
          <p:cNvSpPr/>
          <p:nvPr/>
        </p:nvSpPr>
        <p:spPr>
          <a:xfrm>
            <a:off x="9144000" y="333756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64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DEVELOPED</a:t>
            </a:r>
            <a:endParaRPr lang="en-US" sz="1100" dirty="0"/>
          </a:p>
        </p:txBody>
      </p:sp>
      <p:sp>
        <p:nvSpPr>
          <p:cNvPr id="19" name="Text 13"/>
          <p:cNvSpPr/>
          <p:nvPr/>
        </p:nvSpPr>
        <p:spPr>
          <a:xfrm>
            <a:off x="9144000" y="3566160"/>
            <a:ext cx="2423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F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Crisp preview unlocked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48640" y="4297680"/>
            <a:ext cx="11064240" cy="1920240"/>
          </a:xfrm>
          <a:prstGeom prst="roundRect">
            <a:avLst>
              <a:gd name="adj" fmla="val 4762"/>
            </a:avLst>
          </a:prstGeom>
          <a:solidFill>
            <a:srgbClr val="8FD3DC"/>
          </a:solidFill>
          <a:ln w="12700">
            <a:solidFill>
              <a:srgbClr val="8FD3DC"/>
            </a:solidFill>
            <a:prstDash val="solid"/>
          </a:ln>
        </p:spPr>
      </p:sp>
      <p:pic>
        <p:nvPicPr>
          <p:cNvPr id="21" name="Image 4" descr="E:\SELF\portfolio\scratch\deck_builder\assets\chess_op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4389120"/>
            <a:ext cx="2743200" cy="173736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3657600" y="452628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UNLOCKED INTERACTIVE MODAL TOY: Clicking Frame 01 opens a fully playable Chess Tactics puzzle with </a:t>
            </a:r>
            <a:r>
              <a:rPr lang="en-US" sz="1300" b="1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move timer </a:t>
            </a:r>
            <a:r>
              <a:rPr lang="en-US" sz="1300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sound cues.</a:t>
            </a:r>
            <a:endParaRPr lang="en-US" sz="1300" dirty="0"/>
          </a:p>
        </p:txBody>
      </p:sp>
      <p:sp>
        <p:nvSpPr>
          <p:cNvPr id="23" name="Text 16"/>
          <p:cNvSpPr/>
          <p:nvPr/>
        </p:nvSpPr>
        <p:spPr>
          <a:xfrm>
            <a:off x="548640" y="644652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4F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Principles  |  Slide 8 of 12  |  The Darkroom Portfolio</a:t>
            </a:r>
            <a:endParaRPr lang="en-US" sz="900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1929E1BD-B7A4-1F62-8ABE-E0DC86A2AA2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3988" y="1371600"/>
            <a:ext cx="1961997" cy="187452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49783AE9-C516-B0B7-B7EE-1C184888A2D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90503" y="1396992"/>
            <a:ext cx="1840994" cy="188807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6DE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B2B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SITE ANATOMY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Anatomy of the Site: Elements &amp; Interactions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265176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5000"/>
              </a:srgbClr>
            </a:outerShdw>
          </a:effectLst>
        </p:spPr>
      </p:sp>
      <p:pic>
        <p:nvPicPr>
          <p:cNvPr id="5" name="Image 0" descr="E:\SELF\portfolio\scratch\deck_builder\assets\section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344168"/>
            <a:ext cx="2432304" cy="1143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2532888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Loading Screen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277063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2B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auto-play preloader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3364992" y="1234440"/>
            <a:ext cx="265176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5000"/>
              </a:srgbClr>
            </a:outerShdw>
          </a:effectLst>
        </p:spPr>
      </p:sp>
      <p:pic>
        <p:nvPicPr>
          <p:cNvPr id="9" name="Image 1" descr="E:\SELF\portfolio\scratch\deck_builder\assets\section_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4720" y="1344168"/>
            <a:ext cx="2432304" cy="11430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456432" y="2532888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Hero Film Canvas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3456432" y="277063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2B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scroll plays the film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6181344" y="1234440"/>
            <a:ext cx="265176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5000"/>
              </a:srgbClr>
            </a:outerShdw>
          </a:effectLst>
        </p:spPr>
      </p:sp>
      <p:pic>
        <p:nvPicPr>
          <p:cNvPr id="13" name="Image 2" descr="E:\SELF\portfolio\scratch\deck_builder\assets\section_0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1072" y="1344168"/>
            <a:ext cx="2432304" cy="11430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272784" y="2532888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Selected Work</a:t>
            </a:r>
            <a:endParaRPr lang="en-US" sz="1000" dirty="0"/>
          </a:p>
        </p:txBody>
      </p:sp>
      <p:sp>
        <p:nvSpPr>
          <p:cNvPr id="15" name="Text 10"/>
          <p:cNvSpPr/>
          <p:nvPr/>
        </p:nvSpPr>
        <p:spPr>
          <a:xfrm>
            <a:off x="6272784" y="277063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2B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click interactive prototype</a:t>
            </a:r>
            <a:endParaRPr lang="en-US" sz="950" dirty="0"/>
          </a:p>
        </p:txBody>
      </p:sp>
      <p:sp>
        <p:nvSpPr>
          <p:cNvPr id="16" name="Shape 11"/>
          <p:cNvSpPr/>
          <p:nvPr/>
        </p:nvSpPr>
        <p:spPr>
          <a:xfrm>
            <a:off x="8997696" y="1234440"/>
            <a:ext cx="265176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5000"/>
              </a:srgbClr>
            </a:outerShdw>
          </a:effectLst>
        </p:spPr>
      </p:sp>
      <p:pic>
        <p:nvPicPr>
          <p:cNvPr id="17" name="Image 3" descr="E:\SELF\portfolio\scratch\deck_builder\assets\section_0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07424" y="1344168"/>
            <a:ext cx="2432304" cy="11430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089136" y="2532888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· Engineering Process</a:t>
            </a:r>
            <a:endParaRPr lang="en-US" sz="1000" dirty="0"/>
          </a:p>
        </p:txBody>
      </p:sp>
      <p:sp>
        <p:nvSpPr>
          <p:cNvPr id="19" name="Text 13"/>
          <p:cNvSpPr/>
          <p:nvPr/>
        </p:nvSpPr>
        <p:spPr>
          <a:xfrm>
            <a:off x="9089136" y="277063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2B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hover to highlight step</a:t>
            </a:r>
            <a:endParaRPr 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548640" y="3383280"/>
            <a:ext cx="265176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5000"/>
              </a:srgbClr>
            </a:outerShdw>
          </a:effectLst>
        </p:spPr>
      </p:sp>
      <p:pic>
        <p:nvPicPr>
          <p:cNvPr id="21" name="Image 4" descr="E:\SELF\portfolio\scratch\deck_builder\assets\section_0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" y="3493008"/>
            <a:ext cx="2432304" cy="114300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40080" y="4681728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· Beyond Pixels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640080" y="491947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2B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hover dims &amp; click opens toy</a:t>
            </a:r>
            <a:endParaRPr lang="en-US" sz="950" dirty="0"/>
          </a:p>
        </p:txBody>
      </p:sp>
      <p:sp>
        <p:nvSpPr>
          <p:cNvPr id="24" name="Shape 17"/>
          <p:cNvSpPr/>
          <p:nvPr/>
        </p:nvSpPr>
        <p:spPr>
          <a:xfrm>
            <a:off x="3364992" y="3383280"/>
            <a:ext cx="265176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5000"/>
              </a:srgbClr>
            </a:outerShdw>
          </a:effectLst>
        </p:spPr>
      </p:sp>
      <p:pic>
        <p:nvPicPr>
          <p:cNvPr id="25" name="Image 5" descr="E:\SELF\portfolio\scratch\deck_builder\assets\section_0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74720" y="3493008"/>
            <a:ext cx="2432304" cy="1143000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3456432" y="4681728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· About &amp; Obsessions</a:t>
            </a:r>
            <a:endParaRPr lang="en-US" sz="1000" dirty="0"/>
          </a:p>
        </p:txBody>
      </p:sp>
      <p:sp>
        <p:nvSpPr>
          <p:cNvPr id="27" name="Text 19"/>
          <p:cNvSpPr/>
          <p:nvPr/>
        </p:nvSpPr>
        <p:spPr>
          <a:xfrm>
            <a:off x="3456432" y="491947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2B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hover pills to highlight</a:t>
            </a:r>
            <a:endParaRPr lang="en-US" sz="950" dirty="0"/>
          </a:p>
        </p:txBody>
      </p:sp>
      <p:sp>
        <p:nvSpPr>
          <p:cNvPr id="28" name="Shape 20"/>
          <p:cNvSpPr/>
          <p:nvPr/>
        </p:nvSpPr>
        <p:spPr>
          <a:xfrm>
            <a:off x="6181344" y="3383280"/>
            <a:ext cx="265176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5000"/>
              </a:srgbClr>
            </a:outerShdw>
          </a:effectLst>
        </p:spPr>
      </p:sp>
      <p:pic>
        <p:nvPicPr>
          <p:cNvPr id="29" name="Image 6" descr="E:\SELF\portfolio\scratch\deck_builder\assets\section_0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91072" y="3493008"/>
            <a:ext cx="2432304" cy="1143000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6272784" y="4681728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 · Principles Overview</a:t>
            </a:r>
            <a:endParaRPr lang="en-US" sz="1000" dirty="0"/>
          </a:p>
        </p:txBody>
      </p:sp>
      <p:sp>
        <p:nvSpPr>
          <p:cNvPr id="31" name="Text 22"/>
          <p:cNvSpPr/>
          <p:nvPr/>
        </p:nvSpPr>
        <p:spPr>
          <a:xfrm>
            <a:off x="6272784" y="491947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2B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hover principle cards</a:t>
            </a:r>
            <a:endParaRPr lang="en-US" sz="950" dirty="0"/>
          </a:p>
        </p:txBody>
      </p:sp>
      <p:sp>
        <p:nvSpPr>
          <p:cNvPr id="32" name="Shape 23"/>
          <p:cNvSpPr/>
          <p:nvPr/>
        </p:nvSpPr>
        <p:spPr>
          <a:xfrm>
            <a:off x="8997696" y="3383280"/>
            <a:ext cx="265176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5000"/>
              </a:srgbClr>
            </a:outerShdw>
          </a:effectLst>
        </p:spPr>
      </p:sp>
      <p:pic>
        <p:nvPicPr>
          <p:cNvPr id="33" name="Image 7" descr="E:\SELF\portfolio\scratch\deck_builder\assets\section_0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07424" y="3493008"/>
            <a:ext cx="2432304" cy="1143000"/>
          </a:xfrm>
          <a:prstGeom prst="rect">
            <a:avLst/>
          </a:prstGeom>
        </p:spPr>
      </p:pic>
      <p:sp>
        <p:nvSpPr>
          <p:cNvPr id="34" name="Text 24"/>
          <p:cNvSpPr/>
          <p:nvPr/>
        </p:nvSpPr>
        <p:spPr>
          <a:xfrm>
            <a:off x="9089136" y="4681728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 · Moments Deck</a:t>
            </a:r>
            <a:endParaRPr lang="en-US" sz="1000" dirty="0"/>
          </a:p>
        </p:txBody>
      </p:sp>
      <p:sp>
        <p:nvSpPr>
          <p:cNvPr id="35" name="Text 25"/>
          <p:cNvSpPr/>
          <p:nvPr/>
        </p:nvSpPr>
        <p:spPr>
          <a:xfrm>
            <a:off x="9089136" y="491947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2B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click to cycle stack</a:t>
            </a:r>
            <a:endParaRPr lang="en-US" sz="950" dirty="0"/>
          </a:p>
        </p:txBody>
      </p:sp>
      <p:sp>
        <p:nvSpPr>
          <p:cNvPr id="36" name="Shape 26"/>
          <p:cNvSpPr/>
          <p:nvPr/>
        </p:nvSpPr>
        <p:spPr>
          <a:xfrm>
            <a:off x="548640" y="5577840"/>
            <a:ext cx="2148840" cy="502920"/>
          </a:xfrm>
          <a:prstGeom prst="roundRect">
            <a:avLst>
              <a:gd name="adj" fmla="val 10909"/>
            </a:avLst>
          </a:prstGeom>
          <a:solidFill>
            <a:srgbClr val="1D4E7A"/>
          </a:solidFill>
          <a:ln/>
        </p:spPr>
      </p:sp>
      <p:sp>
        <p:nvSpPr>
          <p:cNvPr id="37" name="Text 27"/>
          <p:cNvSpPr/>
          <p:nvPr/>
        </p:nvSpPr>
        <p:spPr>
          <a:xfrm>
            <a:off x="548640" y="557784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 CURSOR</a:t>
            </a:r>
            <a:endParaRPr lang="en-US" sz="900" dirty="0"/>
          </a:p>
        </p:txBody>
      </p:sp>
      <p:sp>
        <p:nvSpPr>
          <p:cNvPr id="38" name="Shape 28"/>
          <p:cNvSpPr/>
          <p:nvPr/>
        </p:nvSpPr>
        <p:spPr>
          <a:xfrm>
            <a:off x="2788920" y="5577840"/>
            <a:ext cx="2148840" cy="502920"/>
          </a:xfrm>
          <a:prstGeom prst="roundRect">
            <a:avLst>
              <a:gd name="adj" fmla="val 10909"/>
            </a:avLst>
          </a:prstGeom>
          <a:solidFill>
            <a:srgbClr val="1D4E7A"/>
          </a:solidFill>
          <a:ln/>
        </p:spPr>
      </p:sp>
      <p:sp>
        <p:nvSpPr>
          <p:cNvPr id="39" name="Text 29"/>
          <p:cNvSpPr/>
          <p:nvPr/>
        </p:nvSpPr>
        <p:spPr>
          <a:xfrm>
            <a:off x="2788920" y="557784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THEMES WITH T</a:t>
            </a:r>
            <a:endParaRPr lang="en-US" sz="900" dirty="0"/>
          </a:p>
        </p:txBody>
      </p:sp>
      <p:sp>
        <p:nvSpPr>
          <p:cNvPr id="40" name="Shape 30"/>
          <p:cNvSpPr/>
          <p:nvPr/>
        </p:nvSpPr>
        <p:spPr>
          <a:xfrm>
            <a:off x="5029200" y="5577840"/>
            <a:ext cx="2148840" cy="502920"/>
          </a:xfrm>
          <a:prstGeom prst="roundRect">
            <a:avLst>
              <a:gd name="adj" fmla="val 10909"/>
            </a:avLst>
          </a:prstGeom>
          <a:solidFill>
            <a:srgbClr val="1D4E7A"/>
          </a:solidFill>
          <a:ln/>
        </p:spPr>
      </p:sp>
      <p:sp>
        <p:nvSpPr>
          <p:cNvPr id="41" name="Text 31"/>
          <p:cNvSpPr/>
          <p:nvPr/>
        </p:nvSpPr>
        <p:spPr>
          <a:xfrm>
            <a:off x="5029200" y="557784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SOUND OFF DEFAULT</a:t>
            </a:r>
            <a:endParaRPr lang="en-US" sz="900" dirty="0"/>
          </a:p>
        </p:txBody>
      </p:sp>
      <p:sp>
        <p:nvSpPr>
          <p:cNvPr id="42" name="Shape 32"/>
          <p:cNvSpPr/>
          <p:nvPr/>
        </p:nvSpPr>
        <p:spPr>
          <a:xfrm>
            <a:off x="7269480" y="5577840"/>
            <a:ext cx="2148840" cy="502920"/>
          </a:xfrm>
          <a:prstGeom prst="roundRect">
            <a:avLst>
              <a:gd name="adj" fmla="val 10909"/>
            </a:avLst>
          </a:prstGeom>
          <a:solidFill>
            <a:srgbClr val="1D4E7A"/>
          </a:solidFill>
          <a:ln/>
        </p:spPr>
      </p:sp>
      <p:sp>
        <p:nvSpPr>
          <p:cNvPr id="43" name="Text 33"/>
          <p:cNvSpPr/>
          <p:nvPr/>
        </p:nvSpPr>
        <p:spPr>
          <a:xfrm>
            <a:off x="7269480" y="557784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KEYBOARD ARIA</a:t>
            </a:r>
            <a:endParaRPr lang="en-US" sz="900" dirty="0"/>
          </a:p>
        </p:txBody>
      </p:sp>
      <p:sp>
        <p:nvSpPr>
          <p:cNvPr id="44" name="Shape 34"/>
          <p:cNvSpPr/>
          <p:nvPr/>
        </p:nvSpPr>
        <p:spPr>
          <a:xfrm>
            <a:off x="9509760" y="5577840"/>
            <a:ext cx="2148840" cy="502920"/>
          </a:xfrm>
          <a:prstGeom prst="roundRect">
            <a:avLst>
              <a:gd name="adj" fmla="val 10909"/>
            </a:avLst>
          </a:prstGeom>
          <a:solidFill>
            <a:srgbClr val="1D4E7A"/>
          </a:solidFill>
          <a:ln/>
        </p:spPr>
      </p:sp>
      <p:sp>
        <p:nvSpPr>
          <p:cNvPr id="45" name="Text 35"/>
          <p:cNvSpPr/>
          <p:nvPr/>
        </p:nvSpPr>
        <p:spPr>
          <a:xfrm>
            <a:off x="9509760" y="557784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REDUCED MOTION</a:t>
            </a:r>
            <a:endParaRPr lang="en-US" sz="900" dirty="0"/>
          </a:p>
        </p:txBody>
      </p:sp>
      <p:sp>
        <p:nvSpPr>
          <p:cNvPr id="46" name="Text 36"/>
          <p:cNvSpPr/>
          <p:nvPr/>
        </p:nvSpPr>
        <p:spPr>
          <a:xfrm>
            <a:off x="548640" y="644652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4F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 and Learning  |  Slide 9 of 12  |  The Darkroom Portfolio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6DE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B2B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 SYSTEM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 System: Tokens, Component States &amp; Themes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3474720" cy="484632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B2B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ZONE 1 · VERIFIED TOKENS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82880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0C0C0E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3000" y="18288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 (#0C0C0E)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31520" y="228600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121216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43000" y="22860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Surface (rgba(18,18,22))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" y="274320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3EEE7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43000" y="27432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(#F3EEE7)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31520" y="320040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9A958E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43000" y="32004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Muted (#9A958E)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" y="365760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4B3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43000" y="36576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Safelight (#FF4B3A)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31520" y="42062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B2B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TYPOGRAPHY ROLES (Inter)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4526280"/>
            <a:ext cx="3108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050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Display / H1: Inter 700 Bold</a:t>
            </a:r>
            <a:endParaRPr lang="en-US" sz="10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050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Section H2: Inter 700 Bold</a:t>
            </a:r>
            <a:endParaRPr lang="en-US" sz="10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050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Body: Inter 400 Regular</a:t>
            </a:r>
            <a:endParaRPr lang="en-US" sz="10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050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Label: Inter 600 Monospace/Caps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206240" y="1280160"/>
            <a:ext cx="7132320" cy="2286000"/>
          </a:xfrm>
          <a:prstGeom prst="roundRect">
            <a:avLst>
              <a:gd name="adj" fmla="val 4000"/>
            </a:avLst>
          </a:prstGeom>
          <a:solidFill>
            <a:srgbClr val="BBA6F0"/>
          </a:solidFill>
          <a:ln w="12700">
            <a:solidFill>
              <a:srgbClr val="BBA6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89120" y="1417320"/>
            <a:ext cx="6766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B2B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ZONE 2 · COMPONENT STATES</a:t>
            </a:r>
            <a:endParaRPr lang="en-US" sz="1000" dirty="0"/>
          </a:p>
        </p:txBody>
      </p:sp>
      <p:pic>
        <p:nvPicPr>
          <p:cNvPr id="20" name="Image 0" descr="E:\SELF\portfolio\scratch\deck_builder\assets\states_curs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691640"/>
            <a:ext cx="3291840" cy="10972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4389120" y="2880360"/>
            <a:ext cx="6766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4206240" y="3749040"/>
            <a:ext cx="7132320" cy="2377440"/>
          </a:xfrm>
          <a:prstGeom prst="roundRect">
            <a:avLst>
              <a:gd name="adj" fmla="val 3846"/>
            </a:avLst>
          </a:prstGeom>
          <a:solidFill>
            <a:srgbClr val="BBA6F0"/>
          </a:solidFill>
          <a:ln w="12700">
            <a:solidFill>
              <a:srgbClr val="BBA6F0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4389120" y="3886200"/>
            <a:ext cx="6766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B2B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ZONE 3 · ONE LAYOUT, THREE FILM STOCKS (PRESS T TO CYCLE)</a:t>
            </a:r>
            <a:endParaRPr lang="en-US" sz="1000" dirty="0"/>
          </a:p>
        </p:txBody>
      </p:sp>
      <p:pic>
        <p:nvPicPr>
          <p:cNvPr id="25" name="Image 2" descr="E:\SELF\portfolio\scratch\deck_builder\assets\theme_portra_she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0" y="4160520"/>
            <a:ext cx="2194560" cy="1371600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4389120" y="557784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Portra (warm peach)</a:t>
            </a:r>
            <a:endParaRPr lang="en-US" sz="950" dirty="0"/>
          </a:p>
        </p:txBody>
      </p:sp>
      <p:pic>
        <p:nvPicPr>
          <p:cNvPr id="27" name="Image 3" descr="E:\SELF\portfolio\scratch\deck_builder\assets\theme_cinestill_she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5120" y="4160520"/>
            <a:ext cx="2194560" cy="137160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6675120" y="557784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CineStill (teal)</a:t>
            </a:r>
            <a:endParaRPr lang="en-US" sz="950" dirty="0"/>
          </a:p>
        </p:txBody>
      </p:sp>
      <p:pic>
        <p:nvPicPr>
          <p:cNvPr id="29" name="Image 4" descr="E:\SELF\portfolio\scratch\deck_builder\assets\theme_trix_shee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61120" y="4160520"/>
            <a:ext cx="2194560" cy="1371600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8961120" y="557784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Tri-X (monochrome)</a:t>
            </a:r>
            <a:endParaRPr lang="en-US" sz="950" dirty="0"/>
          </a:p>
        </p:txBody>
      </p:sp>
      <p:sp>
        <p:nvSpPr>
          <p:cNvPr id="31" name="Text 24"/>
          <p:cNvSpPr/>
          <p:nvPr/>
        </p:nvSpPr>
        <p:spPr>
          <a:xfrm>
            <a:off x="548640" y="644652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4F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 and Learning  |  Slide 10 of 12  |  The Darkroom Portfolio</a:t>
            </a:r>
            <a:endParaRPr lang="en-US" sz="900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965734C5-CDD4-8CB8-567F-AC581521EF3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0" y="1671579"/>
            <a:ext cx="3457748" cy="1048761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BB6D36B1-D67B-AEB2-090A-460B560FDA88}"/>
              </a:ext>
            </a:extLst>
          </p:cNvPr>
          <p:cNvSpPr txBox="1"/>
          <p:nvPr/>
        </p:nvSpPr>
        <p:spPr>
          <a:xfrm>
            <a:off x="4618653" y="2903220"/>
            <a:ext cx="30305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Before exploring components</a:t>
            </a:r>
          </a:p>
          <a:p>
            <a:endParaRPr lang="en-IN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45ADE6D-6722-1D86-EFC4-F1CA4B579F4E}"/>
              </a:ext>
            </a:extLst>
          </p:cNvPr>
          <p:cNvSpPr txBox="1"/>
          <p:nvPr/>
        </p:nvSpPr>
        <p:spPr>
          <a:xfrm>
            <a:off x="8528179" y="2958584"/>
            <a:ext cx="1763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After exploring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6DE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B2B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ENGINEERING LESSONS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Engineering Lessons: What Went Wrong &amp; Implemented Fixes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051560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280160"/>
            <a:ext cx="137160" cy="1097280"/>
          </a:xfrm>
          <a:prstGeom prst="roundRect">
            <a:avLst>
              <a:gd name="adj" fmla="val 26667"/>
            </a:avLst>
          </a:prstGeom>
          <a:solidFill>
            <a:srgbClr val="5B2BB8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389888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939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PROBLEM: Canvas Frame Lag on Mobile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FIX: Implemented progressive 2-stage chunk loading (frames 1..120 preloaded, rest background pooled).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394960" y="1389888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5B2B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LESSON: Never block UI threads with synchronous frame fetching.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514600"/>
            <a:ext cx="1051560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2514600"/>
            <a:ext cx="137160" cy="1097280"/>
          </a:xfrm>
          <a:prstGeom prst="roundRect">
            <a:avLst>
              <a:gd name="adj" fmla="val 26667"/>
            </a:avLst>
          </a:prstGeom>
          <a:solidFill>
            <a:srgbClr val="5B2BB8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2624328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939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PROBLEM: Accidental Keyboard Theme Triggers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" y="292608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FIX: Added focus guards for onKeyDown to bypass T-key trigger inside input &amp; editable tags.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394960" y="2624328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5B2B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LESSON: Keyboard shortcuts must respect DOM focus context.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3749040"/>
            <a:ext cx="1051560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548640" y="3749040"/>
            <a:ext cx="137160" cy="1097280"/>
          </a:xfrm>
          <a:prstGeom prst="roundRect">
            <a:avLst>
              <a:gd name="adj" fmla="val 26667"/>
            </a:avLst>
          </a:prstGeom>
          <a:solidFill>
            <a:srgbClr val="5B2BB8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11480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0"/>
            <a:r>
              <a:rPr lang="en-US" sz="1400" b="1" dirty="0">
                <a:solidFill>
                  <a:srgbClr val="CC3300"/>
                </a:solidFill>
                <a:latin typeface="Inter" panose="020B0502030000000004" pitchFamily="34" charset="0"/>
                <a:ea typeface="Inter" panose="020B0502030000000004" pitchFamily="34" charset="0"/>
                <a:cs typeface="Inter" pitchFamily="34" charset="-120"/>
              </a:rPr>
              <a:t>PROBLEM: </a:t>
            </a:r>
            <a:r>
              <a:rPr lang="en-IN" sz="1400" b="1" dirty="0">
                <a:solidFill>
                  <a:srgbClr val="CC3300"/>
                </a:solidFill>
                <a:latin typeface="Inter" panose="020B0502030000000004" pitchFamily="34" charset="0"/>
                <a:ea typeface="Inter" panose="020B0502030000000004" pitchFamily="34" charset="0"/>
              </a:rPr>
              <a:t>Unclear Hover Affordances on Darkroom Frames</a:t>
            </a:r>
          </a:p>
          <a:p>
            <a:br>
              <a:rPr lang="en-IN" sz="1400" b="1" dirty="0">
                <a:solidFill>
                  <a:srgbClr val="CC3300"/>
                </a:solidFill>
                <a:latin typeface="Inter" panose="020B0502030000000004" pitchFamily="34" charset="0"/>
                <a:ea typeface="Inter" panose="020B0502030000000004" pitchFamily="34" charset="0"/>
              </a:rPr>
            </a:br>
            <a:endParaRPr lang="en-US" sz="1400" b="1" dirty="0">
              <a:solidFill>
                <a:srgbClr val="CC3300"/>
              </a:solidFill>
              <a:latin typeface="Inter" panose="020B0502030000000004" pitchFamily="34" charset="0"/>
              <a:ea typeface="Inter" panose="020B0502030000000004" pitchFamily="3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822960" y="416052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FIX: Added safelight border ignition ,cursor label state and subtle container elevation glow on hover.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394960" y="3858768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5B2B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LESSON: Interactive elements must provide immediate visual feedback before user clicks.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83480"/>
            <a:ext cx="1051560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20" name="Shape 18"/>
          <p:cNvSpPr/>
          <p:nvPr/>
        </p:nvSpPr>
        <p:spPr>
          <a:xfrm>
            <a:off x="548640" y="4983480"/>
            <a:ext cx="137160" cy="1097280"/>
          </a:xfrm>
          <a:prstGeom prst="roundRect">
            <a:avLst>
              <a:gd name="adj" fmla="val 26667"/>
            </a:avLst>
          </a:prstGeom>
          <a:solidFill>
            <a:srgbClr val="5B2BB8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093208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939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PROBLEM: Accessibility &amp; Reduced Motion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22960" y="539496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FIX: Integrated prefers-reduced-motion queries to skip canvas autoplay.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394960" y="5093208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5B2B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LESSON: Motion must be decorative, never mandatory for task completion.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48640" y="644652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4F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 and Learning  |  Slide 11 of 12  |  The Darkroom Portfolio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9F5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6217920" cy="5303520"/>
          </a:xfrm>
          <a:prstGeom prst="roundRect">
            <a:avLst>
              <a:gd name="adj" fmla="val 2586"/>
            </a:avLst>
          </a:prstGeom>
          <a:solidFill>
            <a:srgbClr val="FFFFFF"/>
          </a:solidFill>
          <a:ln/>
          <a:effectLst>
            <a:outerShdw blurRad="152400" dist="508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3" name="Text 1"/>
          <p:cNvSpPr/>
          <p:nvPr/>
        </p:nvSpPr>
        <p:spPr>
          <a:xfrm>
            <a:off x="822960" y="1097280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6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CONCLUSION &amp; FUTURE ROADMAP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649657"/>
            <a:ext cx="5669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600"/>
              </a:lnSpc>
              <a:buNone/>
            </a:pPr>
            <a:r>
              <a:rPr lang="en-US" sz="2400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Building "The Darkroom" proved that modern portfolios can combine high performance with rich tactile personality.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22960" y="3146293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76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WHAT'S NEXT (FUTURE ROADMAP):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3512053"/>
            <a:ext cx="566928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Mobile Frame Pool: Serving smaller 720p webp frames on mobile connections.</a:t>
            </a:r>
            <a:endParaRPr lang="en-US" sz="14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400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Direct Skip Intro: Adding explicit intro skip button for returning visitors.</a:t>
            </a:r>
            <a:endParaRPr lang="en-US" sz="14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400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WebGL Shaders: Upgrading darkroom developer liquid blur with custom GLSL shaders.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949440" y="731520"/>
            <a:ext cx="4389120" cy="5303520"/>
          </a:xfrm>
          <a:prstGeom prst="roundRect">
            <a:avLst>
              <a:gd name="adj" fmla="val 2083"/>
            </a:avLst>
          </a:prstGeom>
          <a:solidFill>
            <a:srgbClr val="9ADFB5"/>
          </a:solidFill>
          <a:ln w="12700">
            <a:solidFill>
              <a:srgbClr val="9ADFB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132320" y="1005840"/>
            <a:ext cx="4023360" cy="47548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0" y="12801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76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EXPLORE THE LIVE PORTFOLIO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533525" y="4764211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1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https://yatinportfolio.vercel.app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48640" y="644652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4F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Conclusion  |  Slide 12 of 12  |  The Darkroom Portfolio</a:t>
            </a:r>
            <a:endParaRPr lang="en-US" sz="9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534251F-CDDD-8C13-60E8-9545A24AA5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1490" y="2093789"/>
            <a:ext cx="2249505" cy="223489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</TotalTime>
  <Words>1556</Words>
  <Application>Microsoft Office PowerPoint</Application>
  <PresentationFormat>Widescreen</PresentationFormat>
  <Paragraphs>180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Inter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Darkroom: Designing a Personal Portfolio</dc:title>
  <dc:subject>PptxGenJS Presentation</dc:subject>
  <dc:creator>Yatin Patil</dc:creator>
  <cp:lastModifiedBy>YATIN PATIL</cp:lastModifiedBy>
  <cp:revision>16</cp:revision>
  <dcterms:created xsi:type="dcterms:W3CDTF">2026-10-06T20:49:09Z</dcterms:created>
  <dcterms:modified xsi:type="dcterms:W3CDTF">2026-10-07T05:47:25Z</dcterms:modified>
</cp:coreProperties>
</file>