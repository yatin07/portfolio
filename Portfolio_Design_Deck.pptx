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34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architecture breakdown of The Darkroom portfolio. In this presentation, I will detail the engineering, design principles, and tactile interaction models created for my personal site. The goal was to break away from generic templates and craft an authentic digital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objective was clear: replace passive resume text with active, verifiable software prototypes. Here you see project 01, featuring interactive sample data toggles so visitors can test interface behaviors live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details the strategic rationale behind the site. Recruiters do not just want static screenshots; they want proof of engineering execution, problem-solving depth, and attention to micro-interactions.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central creative concept is the darkroom safelight. Red accent light illuminated across the portrait eyes in the hero section directly translates into interface behavior: hovering over contact frames exposes details and ignites surrounding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principles guided every engineering decision. Motion is never purely aesthetic—it communicates state change. Tactile feedback reassures the user, while production rigor ensures high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on slide 6 we analyze visual design hierarchy. The numbered red markers on the left correspond directly to the text breakdown on the right: display headline, role label, and safelight accent emphasis.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Gestalt principles ensure intuitive scanning. Proximity groups frame elements; similarity establishes structural consistency; figure-ground separates lit active frames from dark inactive background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demonstrates the complete frame development pipeline. When clicked, a frame progresses through raw, lit, mid-develop, and developed states, unlocking interactive mini-apps like the chess puzzle shown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Scroll motion scrubbing provides a cinema-like feel. As visitors scroll down the page, requestAnimationFrame scrubs seamlessly across 240 preloaded canvas frames. The experience adapts cleanly to mobile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provides a complete anatomical inventory of the site. Each card features a tight screenshot, section name, and 1-line plain language interaction definition verified directly against codebase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expands the design system into three distinct zones: color tokens and fonts on the left, micro-interaction component states in the middle, and live film stock themes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Engineering is an iterative learning process. Here I highlight four real production challenges encountered while building The Darkroom, along with the implemented code fixes and architecture insights gained.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reviewing The Darkroom portfolio. The complete codebase is deployed live at yatinportfolio.vercel.app. I welcome your questions and feedback on the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1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4937760" cy="53035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52400" dist="508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3152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26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DARKROOM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 a Personal Portfolio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senior front-end engineering presentation on crafting responsive, analog-inspired web experiences.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FFE1D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892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YATIN PATIL  |  UI/UX &amp; FRONT-END ENGINEER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Site: https://yatinportfolio.vercel.app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731520"/>
            <a:ext cx="4937760" cy="5303520"/>
          </a:xfrm>
          <a:prstGeom prst="roundRect">
            <a:avLst>
              <a:gd name="adj" fmla="val 1852"/>
            </a:avLst>
          </a:prstGeom>
          <a:solidFill>
            <a:srgbClr val="FFB9A0"/>
          </a:solidFill>
          <a:ln w="12700">
            <a:solidFill>
              <a:srgbClr val="FFB9A0"/>
            </a:solidFill>
            <a:prstDash val="solid"/>
          </a:ln>
        </p:spPr>
      </p:sp>
      <p:pic>
        <p:nvPicPr>
          <p:cNvPr id="9" name="Image 0" descr="E:\SELF\portfolio\scratch\deck_builder\assets\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914400"/>
            <a:ext cx="4663440" cy="29146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03920" y="2103120"/>
            <a:ext cx="1645920" cy="34747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203200" dist="76200" dir="162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1" name="Image 1" descr="E:\SELF\portfolio\scratch\deck_builder\assets\mobile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148840"/>
            <a:ext cx="1554480" cy="3383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 |  Slide 1 of 13  |  The Darkroom Portfolio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5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 &amp; Tactile Engineering Goals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5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THE PROBLEM WITH MODERN PORTFOLIOS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developer portfolios feel identical: generic cards, static grids, and uninspired layouts. They fail to convey technical craftsmanship, tactile interaction quality, or personal brand identity.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5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CORE ENGINEERING OBJECTIVE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high-performance web app anchored in analog darkroom aesthetics. Integrate real interactive prototypes with explicit "Sample data" labels to maintain complete honesty and tactile engagement.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FD866"/>
          </a:solidFill>
          <a:ln w="12700">
            <a:solidFill>
              <a:srgbClr val="FFD866"/>
            </a:solidFill>
            <a:prstDash val="solid"/>
          </a:ln>
        </p:spPr>
      </p:sp>
      <p:pic>
        <p:nvPicPr>
          <p:cNvPr id="11" name="Image 0" descr="E:\SELF\portfolio\scratch\deck_builder\assets\work_proto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120640" cy="3200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09360" y="48463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PROTOTYPE HARNESS: Selected Work section featuring real interactive state toggles, live data previews, and production role metrics.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 and Need  |  Slide 2 of 13  |  The Darkroom Portfolio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5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Build "The Darkroom"? Strategic Need &amp; Differentiator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74720" cy="46634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270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5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 NEED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926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leads and senior recruiters review hundreds of portfolio links weekly. They need instant visual impact paired with verifiable front-end rigor.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474720" cy="46634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270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5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DIFFERENTIATOR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651760"/>
            <a:ext cx="2926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abstract mockups, The Darkroom provides real working mini-apps: chess puzzles, audio decks, algorithm visualizers, and customizable film stock themes.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474720" cy="46634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270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5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2104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RIGOR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651760"/>
            <a:ext cx="2926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Next.js 14, Framer Motion, custom HTML5 canvas video scrubbing, and fully accessible ARIA focus management verified across responsive viewports.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 and Need  |  Slide 3 of 13  |  The Darkroom Portfolio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5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Concept: The Darkroom Safelight Metaphor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FFD866"/>
          </a:solidFill>
          <a:ln w="12700">
            <a:solidFill>
              <a:srgbClr val="FFD866"/>
            </a:solidFill>
            <a:prstDash val="solid"/>
          </a:ln>
        </p:spPr>
      </p:sp>
      <p:pic>
        <p:nvPicPr>
          <p:cNvPr id="5" name="Image 0" descr="E:\SELF\portfolio\scratch\deck_builder\assets\concept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49377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1280160"/>
            <a:ext cx="5486400" cy="3931920"/>
          </a:xfrm>
          <a:prstGeom prst="roundRect">
            <a:avLst>
              <a:gd name="adj" fmla="val 2326"/>
            </a:avLst>
          </a:prstGeom>
          <a:solidFill>
            <a:srgbClr val="FFD866"/>
          </a:solidFill>
          <a:ln w="12700">
            <a:solidFill>
              <a:srgbClr val="FFD866"/>
            </a:solidFill>
            <a:prstDash val="solid"/>
          </a:ln>
        </p:spPr>
      </p:sp>
      <p:pic>
        <p:nvPicPr>
          <p:cNvPr id="7" name="Image 1" descr="E:\SELF\portfolio\scratch\deck_builder\assets\concept_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63040"/>
            <a:ext cx="5120640" cy="3566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in the hero becomes light in the interface: Hovering over darkroom frames ignites safelight illumination, dimming neighboring frames to bring focal contrast to active elements.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 and Need  |  Slide 4 of 13  |  The Darkroom Portfolio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8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PRINCIPLES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Engineering &amp; Design Principles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Purposeful Motion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Physics-based Framer Motion springs with reduced-motion fallback options for user accessibility.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554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Tactile Feedback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cursor states, audio cues, and instant visual state feedback on every interactive element.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31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Content-First Layouts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4805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decorative clutter. High-contrast typography and strict grid alignments guide the user flow.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6576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931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Rigor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4805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 type safety, SSR hydration compatibility, zero layout shifts, and 100% verified claims.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Principles  |  Slide 5 of 13  |  The Darkroom Portfolio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8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Design: Hierarchy &amp; Typography Pairing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669280" cy="4754880"/>
          </a:xfrm>
          <a:prstGeom prst="roundRect">
            <a:avLst>
              <a:gd name="adj" fmla="val 1923"/>
            </a:avLst>
          </a:prstGeom>
          <a:solidFill>
            <a:srgbClr val="8FD3DC"/>
          </a:solidFill>
          <a:ln w="12700">
            <a:solidFill>
              <a:srgbClr val="8FD3DC"/>
            </a:solidFill>
            <a:prstDash val="solid"/>
          </a:ln>
        </p:spPr>
      </p:sp>
      <p:pic>
        <p:nvPicPr>
          <p:cNvPr id="5" name="Image 0" descr="E:\SELF\portfolio\scratch\deck_builder\assets\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303520" cy="3314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37768" y="3142373"/>
            <a:ext cx="292608" cy="292608"/>
          </a:xfrm>
          <a:prstGeom prst="ellipse">
            <a:avLst/>
          </a:prstGeom>
          <a:solidFill>
            <a:srgbClr val="0B647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7768" y="3142373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37768" y="3015309"/>
            <a:ext cx="292608" cy="292608"/>
          </a:xfrm>
          <a:prstGeom prst="ellipse">
            <a:avLst/>
          </a:prstGeom>
          <a:solidFill>
            <a:srgbClr val="0B647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7768" y="3015309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37768" y="3682393"/>
            <a:ext cx="292608" cy="292608"/>
          </a:xfrm>
          <a:prstGeom prst="ellipse">
            <a:avLst/>
          </a:prstGeom>
          <a:solidFill>
            <a:srgbClr val="0B647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7768" y="3682393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0" y="128016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1417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Display Hierarchy (h1)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83680" y="17373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700 bold typography at clamp(36px, 5vw, 76px) ensures instant readability and commanding presence.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0" y="288036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0" y="3017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Role Label (Mono/Sans Pairing)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83680" y="33375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Upper-case role label (11px, letter-spacing 0.22em) paired with clean sans-serif body text.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0" y="448056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0" y="46177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Accent Focus Word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583680" y="49377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Framer Motion spring-animated italic accent word ("effortless.") highlighted with safelight red token.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Principles  |  Slide 6 of 13  |  The Darkroom Portfolio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8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GESTALT &amp; LAYOUT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Gestalt Principles in Contact Sheet Layout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669280" cy="4754880"/>
          </a:xfrm>
          <a:prstGeom prst="roundRect">
            <a:avLst>
              <a:gd name="adj" fmla="val 1923"/>
            </a:avLst>
          </a:prstGeom>
          <a:solidFill>
            <a:srgbClr val="8FD3DC"/>
          </a:solidFill>
          <a:ln w="12700">
            <a:solidFill>
              <a:srgbClr val="8FD3DC"/>
            </a:solidFill>
            <a:prstDash val="solid"/>
          </a:ln>
        </p:spPr>
      </p:sp>
      <p:pic>
        <p:nvPicPr>
          <p:cNvPr id="5" name="Image 0" descr="E:\SELF\portfolio\scratch\deck_builder\assets\sheet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303520" cy="3314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02373" y="2420087"/>
            <a:ext cx="292608" cy="292608"/>
          </a:xfrm>
          <a:prstGeom prst="ellipse">
            <a:avLst/>
          </a:prstGeom>
          <a:solidFill>
            <a:srgbClr val="0B647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2373" y="2420087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131574" y="1953357"/>
            <a:ext cx="292608" cy="292608"/>
          </a:xfrm>
          <a:prstGeom prst="ellipse">
            <a:avLst/>
          </a:prstGeom>
          <a:solidFill>
            <a:srgbClr val="0B647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1574" y="1953357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05477" y="2273783"/>
            <a:ext cx="292608" cy="292608"/>
          </a:xfrm>
          <a:prstGeom prst="ellipse">
            <a:avLst/>
          </a:prstGeom>
          <a:solidFill>
            <a:srgbClr val="0B647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05477" y="2273783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0" y="128016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13716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Proximity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0" y="162763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24px grid gaps group frame headers, sprocket holes, and previews into distinct semantic cards.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0" y="246888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0" y="25603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Similarity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83680" y="28163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Identical 16px border-radius containers maintain visual rhythm across all 6 darkroom frames.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0" y="365760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0" y="374904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Figure &amp; Ground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83680" y="400507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Hovering a frame ignites safelight borders while dimming surrounding frames for focal focus.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0" y="484632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0" y="49377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Grid Breakpoints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83680" y="519379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auto-fit layout switches cleanly: 3 cols (desktop), 2 cols (tablet), 1 col (mobile).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Principles  |  Slide 7 of 13  |  The Darkroom Portfolio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INTERACTION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Interaction &amp; Development Physics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</p:spPr>
      </p:sp>
      <p:pic>
        <p:nvPicPr>
          <p:cNvPr id="5" name="Image 0" descr="E:\SELF\portfolio\scratch\deck_builder\assets\frame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233172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3375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RAW STATE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Blur filter &amp; sepia tint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83280" y="12801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</p:spPr>
      </p:sp>
      <p:pic>
        <p:nvPicPr>
          <p:cNvPr id="9" name="Image 1" descr="E:\SELF\portfolio\scratch\deck_builder\assets\frame_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417320"/>
            <a:ext cx="2331720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33375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HOVER LIT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474720" y="3566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Safelight glow ignited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17920" y="12801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</p:spPr>
      </p:sp>
      <p:pic>
        <p:nvPicPr>
          <p:cNvPr id="13" name="Image 2" descr="E:\SELF\portfolio\scratch\deck_builder\assets\frame_develo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17320"/>
            <a:ext cx="2331720" cy="1828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33375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MID-DEVELOP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309360" y="3566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Burst animation transition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9052560" y="12801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</p:spPr>
      </p:sp>
      <p:pic>
        <p:nvPicPr>
          <p:cNvPr id="17" name="Image 3" descr="E:\SELF\portfolio\scratch\deck_builder\assets\frame_develop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1417320"/>
            <a:ext cx="2331720" cy="1828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0" y="33375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DEVELOPED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9144000" y="3566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Crisp preview unlocked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" y="429768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8FD3DC"/>
          </a:solidFill>
          <a:ln w="12700">
            <a:solidFill>
              <a:srgbClr val="8FD3DC"/>
            </a:solidFill>
            <a:prstDash val="solid"/>
          </a:ln>
        </p:spPr>
      </p:sp>
      <p:pic>
        <p:nvPicPr>
          <p:cNvPr id="21" name="Image 4" descr="E:\SELF\portfolio\scratch\deck_builder\assets\chess_op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389120"/>
            <a:ext cx="2743200" cy="17373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657600" y="4526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UNLOCKED INTERACTIVE MODAL TOY: Clicking Frame 01 opens a fully playable Chess Tactics puzzle with move timer, FEN parser, and sound cues.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Principles  |  Slide 8 of 13  |  The Darkroom Portfolio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8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 &amp;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&amp; Motion: Canvas Film Scrubber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8FD3DC"/>
          </a:solidFill>
          <a:ln w="12700">
            <a:solidFill>
              <a:srgbClr val="8FD3DC"/>
            </a:solidFill>
            <a:prstDash val="solid"/>
          </a:ln>
        </p:spPr>
      </p:sp>
      <p:pic>
        <p:nvPicPr>
          <p:cNvPr id="5" name="Image 0" descr="E:\SELF\portfolio\scratch\deck_builder\assets\film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10698480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657600"/>
            <a:ext cx="71323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88620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6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 SCROLL SCRUBBING (240 FRAMES)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4251960"/>
            <a:ext cx="65836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240 high-resolution JPEG frames preloaded in controlled parallel batches.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Autoplay intro loops frames 1..120 at 24 FPS before user scroll takeover.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Scroll position ratio maps dynamically to current frame via requestAnimationFrame.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Fallback logic draws nearest loaded frame during fast scrolling.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0" y="365760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8FD3DC"/>
          </a:solidFill>
          <a:ln w="12700">
            <a:solidFill>
              <a:srgbClr val="8FD3DC"/>
            </a:solidFill>
            <a:prstDash val="solid"/>
          </a:ln>
        </p:spPr>
      </p:sp>
      <p:pic>
        <p:nvPicPr>
          <p:cNvPr id="10" name="Image 1" descr="E:\SELF\portfolio\scratch\deck_builder\assets\mobile_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3749040"/>
            <a:ext cx="1828800" cy="2377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Principles  |  Slide 9 of 13  |  The Darkroom Portfolio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6D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ANATOMY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Anatomy of the Site: Elements &amp; Interactions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5" name="Image 0" descr="E:\SELF\portfolio\scratch\deck_builder\assets\section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44168"/>
            <a:ext cx="2432304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53288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Loading Screen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27706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auto-play preloader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364992" y="12344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9" name="Image 1" descr="E:\SELF\portfolio\scratch\deck_builder\assets\section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344168"/>
            <a:ext cx="2432304" cy="1143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56432" y="253288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Hero Film Canvas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456432" y="27706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scroll plays the film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181344" y="12344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3" name="Image 2" descr="E:\SELF\portfolio\scratch\deck_builder\assets\section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344168"/>
            <a:ext cx="2432304" cy="1143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72784" y="253288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Selected Work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272784" y="27706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interactive prototype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8997696" y="12344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7" name="Image 3" descr="E:\SELF\portfolio\scratch\deck_builder\assets\section_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1344168"/>
            <a:ext cx="2432304" cy="1143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253288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Engineering Process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9089136" y="27706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hover to highlight step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48640" y="338328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21" name="Image 4" descr="E:\SELF\portfolio\scratch\deck_builder\assets\section_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493008"/>
            <a:ext cx="2432304" cy="1143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0080" y="46817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Beyond Pixels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640080" y="49194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hover dims &amp; click opens toy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364992" y="338328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25" name="Image 5" descr="E:\SELF\portfolio\scratch\deck_builder\assets\section_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3493008"/>
            <a:ext cx="2432304" cy="11430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456432" y="46817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About &amp; Obsessions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3456432" y="49194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hover pills to highlight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6181344" y="338328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29" name="Image 6" descr="E:\SELF\portfolio\scratch\deck_builder\assets\section_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072" y="3493008"/>
            <a:ext cx="2432304" cy="11430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272784" y="46817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Principles Overview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6272784" y="49194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hover principle cards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8997696" y="338328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33" name="Image 7" descr="E:\SELF\portfolio\scratch\deck_builder\assets\section_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07424" y="3493008"/>
            <a:ext cx="2432304" cy="11430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089136" y="46817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Moments Deck</a:t>
            </a:r>
            <a:endParaRPr lang="en-US" sz="1000" dirty="0"/>
          </a:p>
        </p:txBody>
      </p:sp>
      <p:sp>
        <p:nvSpPr>
          <p:cNvPr id="35" name="Text 25"/>
          <p:cNvSpPr/>
          <p:nvPr/>
        </p:nvSpPr>
        <p:spPr>
          <a:xfrm>
            <a:off x="9089136" y="49194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to cycle stack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548640" y="557784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1D4E7A"/>
          </a:solidFill>
          <a:ln/>
        </p:spPr>
      </p:sp>
      <p:sp>
        <p:nvSpPr>
          <p:cNvPr id="37" name="Text 27"/>
          <p:cNvSpPr/>
          <p:nvPr/>
        </p:nvSpPr>
        <p:spPr>
          <a:xfrm>
            <a:off x="548640" y="55778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CURSOR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2788920" y="557784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1D4E7A"/>
          </a:solidFill>
          <a:ln/>
        </p:spPr>
      </p:sp>
      <p:sp>
        <p:nvSpPr>
          <p:cNvPr id="39" name="Text 29"/>
          <p:cNvSpPr/>
          <p:nvPr/>
        </p:nvSpPr>
        <p:spPr>
          <a:xfrm>
            <a:off x="2788920" y="55778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THEMES WITH T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5029200" y="557784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1D4E7A"/>
          </a:solidFill>
          <a:ln/>
        </p:spPr>
      </p:sp>
      <p:sp>
        <p:nvSpPr>
          <p:cNvPr id="41" name="Text 31"/>
          <p:cNvSpPr/>
          <p:nvPr/>
        </p:nvSpPr>
        <p:spPr>
          <a:xfrm>
            <a:off x="5029200" y="55778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 OFF DEFAULT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7269480" y="557784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1D4E7A"/>
          </a:solidFill>
          <a:ln/>
        </p:spPr>
      </p:sp>
      <p:sp>
        <p:nvSpPr>
          <p:cNvPr id="43" name="Text 33"/>
          <p:cNvSpPr/>
          <p:nvPr/>
        </p:nvSpPr>
        <p:spPr>
          <a:xfrm>
            <a:off x="7269480" y="55778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KEYBOARD ARIA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9509760" y="557784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1D4E7A"/>
          </a:solidFill>
          <a:ln/>
        </p:spPr>
      </p:sp>
      <p:sp>
        <p:nvSpPr>
          <p:cNvPr id="45" name="Text 35"/>
          <p:cNvSpPr/>
          <p:nvPr/>
        </p:nvSpPr>
        <p:spPr>
          <a:xfrm>
            <a:off x="9509760" y="55778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MOTION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Learning  |  Slide 10 of 13  |  The Darkroom Portfolio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6D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System: Tokens, Component States &amp; Themes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474720" cy="48463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1 · VERIFIED TOKENS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C0C0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(#0C0C0E)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12121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 (rgba(18,18,22))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3EEE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(#F3EEE7)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9A958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Muted (#9A958E)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4B3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Safelight (#FF4B3A)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ROLES (Inter)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Display / H1: Inter 700 Bold</a:t>
            </a:r>
            <a:endParaRPr lang="en-US" sz="10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Section H2: Inter 700 Bold</a:t>
            </a:r>
            <a:endParaRPr lang="en-US" sz="10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Body: Inter 400 Regular</a:t>
            </a:r>
            <a:endParaRPr lang="en-US" sz="10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Label: Inter 600 Monospace/Caps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06240" y="1280160"/>
            <a:ext cx="7132320" cy="2286000"/>
          </a:xfrm>
          <a:prstGeom prst="roundRect">
            <a:avLst>
              <a:gd name="adj" fmla="val 4000"/>
            </a:avLst>
          </a:prstGeom>
          <a:solidFill>
            <a:srgbClr val="BBA6F0"/>
          </a:solidFill>
          <a:ln w="12700">
            <a:solidFill>
              <a:srgbClr val="BBA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41732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2 · COMPONENT STATES</a:t>
            </a:r>
            <a:endParaRPr lang="en-US" sz="1000" dirty="0"/>
          </a:p>
        </p:txBody>
      </p:sp>
      <p:pic>
        <p:nvPicPr>
          <p:cNvPr id="20" name="Image 0" descr="E:\SELF\portfolio\scratch\deck_builder\assets\states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91640"/>
            <a:ext cx="3291840" cy="1097280"/>
          </a:xfrm>
          <a:prstGeom prst="rect">
            <a:avLst/>
          </a:prstGeom>
        </p:spPr>
      </p:pic>
      <p:pic>
        <p:nvPicPr>
          <p:cNvPr id="21" name="Image 1" descr="E:\SELF\portfolio\scratch\deck_builder\assets\states_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691640"/>
            <a:ext cx="3291840" cy="10972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389120" y="28803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Left: Cursor Dot → Ring → Label State (VIEW/DRAG)  |  Right: Frame Raw → Lit → Developed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206240" y="3749040"/>
            <a:ext cx="7132320" cy="2377440"/>
          </a:xfrm>
          <a:prstGeom prst="roundRect">
            <a:avLst>
              <a:gd name="adj" fmla="val 3846"/>
            </a:avLst>
          </a:prstGeom>
          <a:solidFill>
            <a:srgbClr val="BBA6F0"/>
          </a:solidFill>
          <a:ln w="12700">
            <a:solidFill>
              <a:srgbClr val="BBA6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389120" y="388620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3 · ONE LAYOUT, THREE FILM STOCKS (PRESS T TO CYCLE)</a:t>
            </a:r>
            <a:endParaRPr lang="en-US" sz="1000" dirty="0"/>
          </a:p>
        </p:txBody>
      </p:sp>
      <p:pic>
        <p:nvPicPr>
          <p:cNvPr id="25" name="Image 2" descr="E:\SELF\portfolio\scratch\deck_builder\assets\theme_portra_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4160520"/>
            <a:ext cx="2194560" cy="13716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389120" y="5577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Portra (warm peach)</a:t>
            </a:r>
            <a:endParaRPr lang="en-US" sz="950" dirty="0"/>
          </a:p>
        </p:txBody>
      </p:sp>
      <p:pic>
        <p:nvPicPr>
          <p:cNvPr id="27" name="Image 3" descr="E:\SELF\portfolio\scratch\deck_builder\assets\theme_cinestill_she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160520"/>
            <a:ext cx="2194560" cy="1371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675120" y="5577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CineStill (teal)</a:t>
            </a:r>
            <a:endParaRPr lang="en-US" sz="950" dirty="0"/>
          </a:p>
        </p:txBody>
      </p:sp>
      <p:pic>
        <p:nvPicPr>
          <p:cNvPr id="29" name="Image 4" descr="E:\SELF\portfolio\scratch\deck_builder\assets\theme_trix_she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0" y="4160520"/>
            <a:ext cx="2194560" cy="13716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961120" y="5577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Tri-X (monochrome)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Learning  |  Slide 11 of 13  |  The Darkroom Portfolio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6D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LESSONS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Lessons: What Went Wrong &amp; Implemented Fixes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0515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137160" cy="1097280"/>
          </a:xfrm>
          <a:prstGeom prst="roundRect">
            <a:avLst>
              <a:gd name="adj" fmla="val 26667"/>
            </a:avLst>
          </a:prstGeom>
          <a:solidFill>
            <a:srgbClr val="5B2BB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898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PROBLEM: Canvas Frame Lag on Mobile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FIX: Implemented progressive 2-stage chunk loading (frames 1..120 preloaded, rest background pooled).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94960" y="138988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LESSON: Never block UI threads with synchronous frame fetching.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0515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514600"/>
            <a:ext cx="137160" cy="1097280"/>
          </a:xfrm>
          <a:prstGeom prst="roundRect">
            <a:avLst>
              <a:gd name="adj" fmla="val 26667"/>
            </a:avLst>
          </a:prstGeom>
          <a:solidFill>
            <a:srgbClr val="5B2BB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243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PROBLEM: Accidental Keyboard Theme Triggers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FIX: Added focus guards for onKeyDown to bypass T-key trigger inside input &amp; editable tags.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94960" y="262432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LESSON: Keyboard shortcuts must respect DOM focus context.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0515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749040"/>
            <a:ext cx="137160" cy="1097280"/>
          </a:xfrm>
          <a:prstGeom prst="roundRect">
            <a:avLst>
              <a:gd name="adj" fmla="val 26667"/>
            </a:avLst>
          </a:prstGeom>
          <a:solidFill>
            <a:srgbClr val="5B2BB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587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PROBLEM: Hydration Mismatches in Theme Storage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FIX: Deferred localStorage theme read to useEffect client mount phase.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94960" y="385876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LESSON: SSR output must remain 100% deterministic during render.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0515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983480"/>
            <a:ext cx="137160" cy="1097280"/>
          </a:xfrm>
          <a:prstGeom prst="roundRect">
            <a:avLst>
              <a:gd name="adj" fmla="val 26667"/>
            </a:avLst>
          </a:prstGeom>
          <a:solidFill>
            <a:srgbClr val="5B2BB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0932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PROBLEM: Accessibility &amp; Reduced Motion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3949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FIX: Integrated prefers-reduced-motion queries to skip canvas autoplay.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94960" y="509320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5B2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LESSON: Motion must be decorative, never mandatory for task completion.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Learning  |  Slide 12 of 13  |  The Darkroom Portfolio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9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6217920" cy="530352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  <a:effectLst>
            <a:outerShdw blurRad="152400" dist="508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10972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6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&amp; FUTURE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"The Darkroom" proved that modern portfolios can combine high performance with rich tactile personality.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6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NEXT (FUTURE ROADMAP):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5669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Mobile Frame Pool: Serving smaller 720p webp frames on mobile connections.</a:t>
            </a:r>
            <a:endParaRPr lang="en-US" sz="11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Direct Skip Intro: Adding explicit intro skip button for returning visitors.</a:t>
            </a:r>
            <a:endParaRPr lang="en-US" sz="11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WebGL Shaders: Upgrading darkroom developer liquid blur with custom GLSL shaders.</a:t>
            </a:r>
            <a:endParaRPr lang="en-US" sz="11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Interactive Claims Ledger: Live verification panel for all software claims.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949440" y="731520"/>
            <a:ext cx="4389120" cy="5303520"/>
          </a:xfrm>
          <a:prstGeom prst="roundRect">
            <a:avLst>
              <a:gd name="adj" fmla="val 2083"/>
            </a:avLst>
          </a:prstGeom>
          <a:solidFill>
            <a:srgbClr val="9ADFB5"/>
          </a:solidFill>
          <a:ln w="12700">
            <a:solidFill>
              <a:srgbClr val="9ADF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1005840"/>
            <a:ext cx="4023360" cy="47548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6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THE LIVE PORTFOLIO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63840" y="4800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https://yatinportfolio.vercel.app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 |  Slide 13 of 13  |  The Darkroom Portfolio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534251F-CDDD-8C13-60E8-9545A24AA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523" y="2117833"/>
            <a:ext cx="1981844" cy="19689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1717</Words>
  <Application>Microsoft Office PowerPoint</Application>
  <PresentationFormat>Widescreen</PresentationFormat>
  <Paragraphs>186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Darkroom: Designing a Personal Portfolio</dc:title>
  <dc:subject>PptxGenJS Presentation</dc:subject>
  <dc:creator>Yatin Patil</dc:creator>
  <cp:lastModifiedBy>YATIN PATIL</cp:lastModifiedBy>
  <cp:revision>3</cp:revision>
  <dcterms:created xsi:type="dcterms:W3CDTF">2026-10-06T20:49:09Z</dcterms:created>
  <dcterms:modified xsi:type="dcterms:W3CDTF">2026-10-06T20:53:37Z</dcterms:modified>
</cp:coreProperties>
</file>