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6161E"/>
          </a:solidFill>
          <a:ln w="25400">
            <a:solidFill>
              <a:srgbClr val="FF4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645920"/>
            <a:ext cx="853409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FF4B3A"/>
                </a:solidFill>
              </a:defRPr>
            </a:pPr>
            <a:r>
              <a:t>PORTFOLIO ARCHITECTURE &amp; DESIGN REVIEW</a:t>
            </a:r>
          </a:p>
          <a:p>
            <a:pPr>
              <a:spcAft>
                <a:spcPts val="800"/>
              </a:spcAft>
              <a:defRPr sz="3200" b="1">
                <a:solidFill>
                  <a:srgbClr val="F0F0F8"/>
                </a:solidFill>
              </a:defRPr>
            </a:pPr>
            <a:r>
              <a:t>Yatin Patil — Creative Developer</a:t>
            </a:r>
          </a:p>
          <a:p>
            <a:pPr>
              <a:spcAft>
                <a:spcPts val="2400"/>
              </a:spcAft>
              <a:defRPr sz="1800">
                <a:solidFill>
                  <a:srgbClr val="E5A93C"/>
                </a:solidFill>
              </a:defRPr>
            </a:pPr>
            <a:r>
              <a:t>UI/UX Engineer &amp; Visual Storyteller</a:t>
            </a:r>
          </a:p>
          <a:p>
            <a:pPr>
              <a:spcAft>
                <a:spcPts val="2000"/>
              </a:spcAft>
              <a:defRPr sz="1200">
                <a:solidFill>
                  <a:srgbClr val="9A9AB0"/>
                </a:solidFill>
              </a:defRPr>
            </a:pPr>
            <a:r>
              <a:t>An in-depth structural review of a high-end cinematic portfolio featuring dynamic analog film simulation themes, 213-frame scrollable HTML5 canvas 3D sequences, dynamic 3D polaroid hackathon moments, and pure hand-drawn sketch archives.</a:t>
            </a:r>
          </a:p>
          <a:p>
            <a:pPr>
              <a:defRPr sz="1000" b="1">
                <a:solidFill>
                  <a:srgbClr val="606075"/>
                </a:solidFill>
              </a:defRPr>
            </a:pPr>
            <a:r>
              <a:t>LIVE SITE: https://yatinportfolio.vercel.app/   |   STACK: Next.js 16 • TypeScript • Canvas 2D • Framer Motion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4B3A"/>
                </a:solidFill>
                <a:latin typeface="Calibri"/>
              </a:defRPr>
            </a:pPr>
            <a:r>
              <a:t>01 / THEME ENGINE &amp; DESIGN SYSTEM</a:t>
            </a:r>
          </a:p>
          <a:p>
            <a:pPr>
              <a:defRPr sz="2200" b="1">
                <a:solidFill>
                  <a:srgbClr val="F0F0F8"/>
                </a:solidFill>
                <a:latin typeface="Calibri"/>
              </a:defRPr>
            </a:pPr>
            <a:r>
              <a:t>Cinematic Darkroom Theme Engine &amp; Visual Aesthetics</a:t>
            </a:r>
          </a:p>
          <a:p>
            <a:pPr>
              <a:defRPr sz="1200">
                <a:solidFill>
                  <a:srgbClr val="9A9AB0"/>
                </a:solidFill>
                <a:latin typeface="Calibri"/>
              </a:defRPr>
            </a:pPr>
            <a:r>
              <a:t>Pressing 'T' opens the dynamic darkroom theme switcher with 6 analog film emulation profiles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609344"/>
            <a:ext cx="5742432" cy="4462272"/>
          </a:xfrm>
          <a:prstGeom prst="rect">
            <a:avLst/>
          </a:prstGeom>
          <a:solidFill>
            <a:srgbClr val="16161E"/>
          </a:solidFill>
          <a:ln w="12700">
            <a:solidFill>
              <a:srgbClr val="FF4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heme_switcher_open_1791309359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08076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606075"/>
                </a:solidFill>
              </a:defRPr>
            </a:pPr>
            <a:r>
              <a:t>Interactive Film Theme Switcher ('T' Key Modal)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645920"/>
            <a:ext cx="4876495" cy="658368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828800"/>
            <a:ext cx="451073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5A93C"/>
                </a:solidFill>
                <a:latin typeface="Calibri"/>
              </a:defRPr>
            </a:pPr>
            <a:r>
              <a:t>Kodak Gold 200 (Default)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Warm golden highlights, deep amber contrast, darkroom atmosphere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377440"/>
            <a:ext cx="4876495" cy="658368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2560320"/>
            <a:ext cx="451073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5A93C"/>
                </a:solidFill>
                <a:latin typeface="Calibri"/>
              </a:defRPr>
            </a:pPr>
            <a:r>
              <a:t>Portra 400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Natural soft skin tones, subtle pastel tones, refined editorial feel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3108960"/>
            <a:ext cx="4876495" cy="658368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3291840"/>
            <a:ext cx="451073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5A93C"/>
                </a:solidFill>
                <a:latin typeface="Calibri"/>
              </a:defRPr>
            </a:pPr>
            <a:r>
              <a:t>Cinestill 800T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Tungsten cool blue shadows, vibrant neon red halation effects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3840480"/>
            <a:ext cx="4876495" cy="658368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4023360"/>
            <a:ext cx="451073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5A93C"/>
                </a:solidFill>
                <a:latin typeface="Calibri"/>
              </a:defRPr>
            </a:pPr>
            <a:r>
              <a:t>Tri-X 400 B&amp;W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High contrast monochrome, heavy analog grain, dramatic shadows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4572000"/>
            <a:ext cx="4876495" cy="658368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4754880"/>
            <a:ext cx="451073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5A93C"/>
                </a:solidFill>
                <a:latin typeface="Calibri"/>
              </a:defRPr>
            </a:pPr>
            <a:r>
              <a:t>Velvia 50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Ultra-saturated vivid colors, punchy landscape tones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5303520"/>
            <a:ext cx="4876495" cy="658368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5486400"/>
            <a:ext cx="451073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5A93C"/>
                </a:solidFill>
                <a:latin typeface="Calibri"/>
              </a:defRPr>
            </a:pPr>
            <a:r>
              <a:t>Purple Haze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Experimental infrared magenta hues with electric violet glow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4B3A"/>
                </a:solidFill>
                <a:latin typeface="Calibri"/>
              </a:defRPr>
            </a:pPr>
            <a:r>
              <a:t>02 / HERO &amp; NAVIGATION</a:t>
            </a:r>
          </a:p>
          <a:p>
            <a:pPr>
              <a:defRPr sz="2200" b="1">
                <a:solidFill>
                  <a:srgbClr val="F0F0F8"/>
                </a:solidFill>
                <a:latin typeface="Calibri"/>
              </a:defRPr>
            </a:pPr>
            <a:r>
              <a:t>Hero Section — First Impression &amp; Live Status Indicator</a:t>
            </a:r>
          </a:p>
          <a:p>
            <a:pPr>
              <a:defRPr sz="1200">
                <a:solidFill>
                  <a:srgbClr val="9A9AB0"/>
                </a:solidFill>
                <a:latin typeface="Calibri"/>
              </a:defRPr>
            </a:pPr>
            <a:r>
              <a:t>Clean dark aesthetic with real-time availability badge, sound toggle, and film metadata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609344"/>
            <a:ext cx="6291072" cy="4553712"/>
          </a:xfrm>
          <a:prstGeom prst="rect">
            <a:avLst/>
          </a:prstGeom>
          <a:solidFill>
            <a:srgbClr val="16161E"/>
          </a:solidFill>
          <a:ln w="12700">
            <a:solidFill>
              <a:srgbClr val="FF4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ero_section_fixed_17913093443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17220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606075"/>
                </a:solidFill>
              </a:defRPr>
            </a:pPr>
            <a:r>
              <a:t>Hero Section — Desktop 1400px Viewport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45920"/>
            <a:ext cx="4297680" cy="448056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5A93C"/>
                </a:solidFill>
                <a:latin typeface="Calibri"/>
              </a:defRPr>
            </a:pPr>
            <a:r>
              <a:t>Hero Architecture Features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Headline &amp; Subtitle: Bold typography defining identity as Creative Developer &amp; UI/UX Engineer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Live Availability Badge: Dynamic glowing indicator showing status (e.g. 'Available for Q4 Projects')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Darkroom Sound Engine: Interactive ambient sound toggle enhancing analog darkroom immersion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Theme Toast Shortcut: 'Press T for themes' keyboard shortcut hint for quick theme toggling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Film Frame Counter: Analog roll counter framing the header metadata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4B3A"/>
                </a:solidFill>
                <a:latin typeface="Calibri"/>
              </a:defRPr>
            </a:pPr>
            <a:r>
              <a:t>03 / INTERACTIVE CANVAS</a:t>
            </a:r>
          </a:p>
          <a:p>
            <a:pPr>
              <a:defRPr sz="2200" b="1">
                <a:solidFill>
                  <a:srgbClr val="F0F0F8"/>
                </a:solidFill>
                <a:latin typeface="Calibri"/>
              </a:defRPr>
            </a:pPr>
            <a:r>
              <a:t>213-Frame Scroll-Driven 3D Canvas Sequence</a:t>
            </a:r>
          </a:p>
          <a:p>
            <a:pPr>
              <a:defRPr sz="1200">
                <a:solidFill>
                  <a:srgbClr val="9A9AB0"/>
                </a:solidFill>
                <a:latin typeface="Calibri"/>
              </a:defRPr>
            </a:pPr>
            <a:r>
              <a:t>High-performance HTML5 2D Canvas rendering 60FPS scrolljacked sequence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609344"/>
            <a:ext cx="5193792" cy="2267712"/>
          </a:xfrm>
          <a:prstGeom prst="rect">
            <a:avLst/>
          </a:prstGeom>
          <a:solidFill>
            <a:srgbClr val="16161E"/>
          </a:solidFill>
          <a:ln w="12700">
            <a:solidFill>
              <a:srgbClr val="FF4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oll_canvas_section_17913094797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2194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8862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606075"/>
                </a:solidFill>
              </a:defRPr>
            </a:pPr>
            <a:r>
              <a:t>Canvas Sequence Stage 1 — Initial Frame Render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3986784"/>
            <a:ext cx="5193792" cy="2267712"/>
          </a:xfrm>
          <a:prstGeom prst="rect">
            <a:avLst/>
          </a:prstGeom>
          <a:solidFill>
            <a:srgbClr val="16161E"/>
          </a:solidFill>
          <a:ln w="12700">
            <a:solidFill>
              <a:srgbClr val="FF4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oll_canvas_stage2_17913095399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023360"/>
            <a:ext cx="5120640" cy="2194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2636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606075"/>
                </a:solidFill>
              </a:defRPr>
            </a:pPr>
            <a:r>
              <a:t>Canvas Sequence Stage 2 — Scroll Progress Trajectory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645920"/>
            <a:ext cx="5394960" cy="457200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828800"/>
            <a:ext cx="50292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5A93C"/>
                </a:solidFill>
                <a:latin typeface="Calibri"/>
              </a:defRPr>
            </a:pPr>
            <a:r>
              <a:t>Technical Implementation Details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HTML5 Canvas 2D Engine: Renders pre-rendered image sequence smoothly without WebGL overhead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Scroll Synchronization: Driven by Framer Motion's useScroll and useTransform hooks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Pre-loading Pipeline: Async image loader ensures zero jank or flickering during scrub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Responsive Scaling: Auto-calculates aspect ratio and fits canvas seamlessly to viewport height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Text Overlay Sync: Narrative copy fades dynamically alongside sequence progression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4B3A"/>
                </a:solidFill>
                <a:latin typeface="Calibri"/>
              </a:defRPr>
            </a:pPr>
            <a:r>
              <a:t>04 / ABOUT &amp; SKILLS</a:t>
            </a:r>
          </a:p>
          <a:p>
            <a:pPr>
              <a:defRPr sz="2200" b="1">
                <a:solidFill>
                  <a:srgbClr val="F0F0F8"/>
                </a:solidFill>
                <a:latin typeface="Calibri"/>
              </a:defRPr>
            </a:pPr>
            <a:r>
              <a:t>Engineering Capabilities &amp; Glassmorphic Skill Matrix</a:t>
            </a:r>
          </a:p>
          <a:p>
            <a:pPr>
              <a:defRPr sz="1200">
                <a:solidFill>
                  <a:srgbClr val="9A9AB0"/>
                </a:solidFill>
                <a:latin typeface="Calibri"/>
              </a:defRPr>
            </a:pPr>
            <a:r>
              <a:t>Structured layout highlighting technical proficiency, tools, and 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609344"/>
            <a:ext cx="5925312" cy="4553712"/>
          </a:xfrm>
          <a:prstGeom prst="rect">
            <a:avLst/>
          </a:prstGeom>
          <a:solidFill>
            <a:srgbClr val="16161E"/>
          </a:solidFill>
          <a:ln w="12700">
            <a:solidFill>
              <a:srgbClr val="FF4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bout_me_section_1790966091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85216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17220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606075"/>
                </a:solidFill>
              </a:defRPr>
            </a:pPr>
            <a:r>
              <a:t>About &amp; Skills Glassmorphic Card Container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45920"/>
            <a:ext cx="4663440" cy="100584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828800"/>
            <a:ext cx="42976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5A93C"/>
                </a:solidFill>
                <a:latin typeface="Calibri"/>
              </a:defRPr>
            </a:pPr>
            <a:r>
              <a:t>Frontend &amp; UI Engineering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React, Next.js 16, TypeScript, TailwindCSS, Framer Motion, HTML5 Canvas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2788920"/>
            <a:ext cx="4663440" cy="100584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2971800"/>
            <a:ext cx="42976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5A93C"/>
                </a:solidFill>
                <a:latin typeface="Calibri"/>
              </a:defRPr>
            </a:pPr>
            <a:r>
              <a:t>Backend &amp; Cloud Systems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Node.js, Express, PostgreSQL, MongoDB, REST/GraphQL APIs, Vercel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3931920"/>
            <a:ext cx="4663440" cy="100584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114800"/>
            <a:ext cx="42976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5A93C"/>
                </a:solidFill>
                <a:latin typeface="Calibri"/>
              </a:defRPr>
            </a:pPr>
            <a:r>
              <a:t>Design &amp; Prototyping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Figma, UI/UX Design Systems, Wireframing, Micro-interactions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5074920"/>
            <a:ext cx="4663440" cy="100584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5257800"/>
            <a:ext cx="42976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5A93C"/>
                </a:solidFill>
                <a:latin typeface="Calibri"/>
              </a:defRPr>
            </a:pPr>
            <a:r>
              <a:t>Analog Aesthetic Tokens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CSS custom variables powering themes, custom borders, and optical film noise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4B3A"/>
                </a:solidFill>
                <a:latin typeface="Calibri"/>
              </a:defRPr>
            </a:pPr>
            <a:r>
              <a:t>05 / SELECTED WORK</a:t>
            </a:r>
          </a:p>
          <a:p>
            <a:pPr>
              <a:defRPr sz="2200" b="1">
                <a:solidFill>
                  <a:srgbClr val="F0F0F8"/>
                </a:solidFill>
                <a:latin typeface="Calibri"/>
              </a:defRPr>
            </a:pPr>
            <a:r>
              <a:t>Featured Projects &amp; Product Case Studies</a:t>
            </a:r>
          </a:p>
          <a:p>
            <a:pPr>
              <a:defRPr sz="1200">
                <a:solidFill>
                  <a:srgbClr val="9A9AB0"/>
                </a:solidFill>
                <a:latin typeface="Calibri"/>
              </a:defRPr>
            </a:pPr>
            <a:r>
              <a:t>Showcasing full-stack applications with direct live links, tech badges, and GitHub repos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609344"/>
            <a:ext cx="5193792" cy="4553712"/>
          </a:xfrm>
          <a:prstGeom prst="rect">
            <a:avLst/>
          </a:prstGeom>
          <a:solidFill>
            <a:srgbClr val="16161E"/>
          </a:solidFill>
          <a:ln w="12700">
            <a:solidFill>
              <a:srgbClr val="FF4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elected_work_section_1791309609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1722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606075"/>
                </a:solidFill>
              </a:defRPr>
            </a:pPr>
            <a:r>
              <a:t>Selected Work Grid 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5998464" y="1609344"/>
            <a:ext cx="5468112" cy="4553712"/>
          </a:xfrm>
          <a:prstGeom prst="rect">
            <a:avLst/>
          </a:prstGeom>
          <a:solidFill>
            <a:srgbClr val="16161E"/>
          </a:solidFill>
          <a:ln w="12700">
            <a:solidFill>
              <a:srgbClr val="FF4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elected_work_details_17913097415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645920"/>
            <a:ext cx="5394960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40" y="61722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606075"/>
                </a:solidFill>
              </a:defRPr>
            </a:pPr>
            <a:r>
              <a:t>Project Detail Card 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4B3A"/>
                </a:solidFill>
                <a:latin typeface="Calibri"/>
              </a:defRPr>
            </a:pPr>
            <a:r>
              <a:t>06 / METHODOLOGY</a:t>
            </a:r>
          </a:p>
          <a:p>
            <a:pPr>
              <a:defRPr sz="2200" b="1">
                <a:solidFill>
                  <a:srgbClr val="F0F0F8"/>
                </a:solidFill>
                <a:latin typeface="Calibri"/>
              </a:defRPr>
            </a:pPr>
            <a:r>
              <a:t>Process — How I Work from Concept to Deployment</a:t>
            </a:r>
          </a:p>
          <a:p>
            <a:pPr>
              <a:defRPr sz="1200">
                <a:solidFill>
                  <a:srgbClr val="9A9AB0"/>
                </a:solidFill>
                <a:latin typeface="Calibri"/>
              </a:defRPr>
            </a:pPr>
            <a:r>
              <a:t>4-step engineering and design workflow for building digital products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609344"/>
            <a:ext cx="5925312" cy="4553712"/>
          </a:xfrm>
          <a:prstGeom prst="rect">
            <a:avLst/>
          </a:prstGeom>
          <a:solidFill>
            <a:srgbClr val="16161E"/>
          </a:solidFill>
          <a:ln w="12700">
            <a:solidFill>
              <a:srgbClr val="FF4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ocess_section_17909652436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85216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17220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606075"/>
                </a:solidFill>
              </a:defRPr>
            </a:pPr>
            <a:r>
              <a:t>Process &amp; Workflow Interactive Steps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45920"/>
            <a:ext cx="4663440" cy="100584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828800"/>
            <a:ext cx="42976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5A93C"/>
                </a:solidFill>
                <a:latin typeface="Calibri"/>
              </a:defRPr>
            </a:pPr>
            <a:r>
              <a:t>01 / Discovery &amp; Research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Deconstructing requirements, target audience analysis, and visual moodboards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2788920"/>
            <a:ext cx="4663440" cy="100584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2971800"/>
            <a:ext cx="42976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5A93C"/>
                </a:solidFill>
                <a:latin typeface="Calibri"/>
              </a:defRPr>
            </a:pPr>
            <a:r>
              <a:t>02 / Architecture &amp; UX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Wireframing user flows, establishing design systems, and data schema design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3931920"/>
            <a:ext cx="4663440" cy="100584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114800"/>
            <a:ext cx="42976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5A93C"/>
                </a:solidFill>
                <a:latin typeface="Calibri"/>
              </a:defRPr>
            </a:pPr>
            <a:r>
              <a:t>03 / Engineering &amp; Code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High-performance full-stack development using Next.js, TypeScript, and clean 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5074920"/>
            <a:ext cx="4663440" cy="100584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5257800"/>
            <a:ext cx="42976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5A93C"/>
                </a:solidFill>
                <a:latin typeface="Calibri"/>
              </a:defRPr>
            </a:pPr>
            <a:r>
              <a:t>04 / Polish &amp; Optimization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Fine-tuning spring animations, responsive testing, and performance audits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4B3A"/>
                </a:solidFill>
                <a:latin typeface="Calibri"/>
              </a:defRPr>
            </a:pPr>
            <a:r>
              <a:t>07 / MOMENTS TIMELINE</a:t>
            </a:r>
          </a:p>
          <a:p>
            <a:pPr>
              <a:defRPr sz="2200" b="1">
                <a:solidFill>
                  <a:srgbClr val="F0F0F8"/>
                </a:solidFill>
                <a:latin typeface="Calibri"/>
              </a:defRPr>
            </a:pPr>
            <a:r>
              <a:t>Hackathon &amp; Event Timeline with Floating Polaroids</a:t>
            </a:r>
          </a:p>
          <a:p>
            <a:pPr>
              <a:defRPr sz="1200">
                <a:solidFill>
                  <a:srgbClr val="9A9AB0"/>
                </a:solidFill>
                <a:latin typeface="Calibri"/>
              </a:defRPr>
            </a:pPr>
            <a:r>
              <a:t>3D card stack where event photos pop up dynamically into empty space on card bring-to-front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609344"/>
            <a:ext cx="5925312" cy="4553712"/>
          </a:xfrm>
          <a:prstGeom prst="rect">
            <a:avLst/>
          </a:prstGeom>
          <a:solidFill>
            <a:srgbClr val="16161E"/>
          </a:solidFill>
          <a:ln w="12700">
            <a:solidFill>
              <a:srgbClr val="FF4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imeline_section_17909665972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85216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17220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606075"/>
                </a:solidFill>
              </a:defRPr>
            </a:pPr>
            <a:r>
              <a:t>3D Hackathon Card Stack &amp; Polaroid Popups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45920"/>
            <a:ext cx="4693615" cy="448056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828800"/>
            <a:ext cx="432785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5A93C"/>
                </a:solidFill>
                <a:latin typeface="Calibri"/>
              </a:defRPr>
            </a:pPr>
            <a:r>
              <a:t>Key Features &amp; Events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3D Interactive Card Stack: Clicking cards brings them forward with physics-based spring transitions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Dynamic Polaroid Popups: Event photos pop into surrounding empty space as the corresponding card activates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Buildathon Event Card: Highlights hackathon achievements with project details and repository links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Mobile App Expo Card: 6th Sem 2026 Expo event card featuring React Native / Expo showcase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Memory Reel Aesthetic: Combines hackathon journey notes with physical film polaroid frames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4B3A"/>
                </a:solidFill>
                <a:latin typeface="Calibri"/>
              </a:defRPr>
            </a:pPr>
            <a:r>
              <a:t>08 / BEYOND PIXELS</a:t>
            </a:r>
          </a:p>
          <a:p>
            <a:pPr>
              <a:defRPr sz="2200" b="1">
                <a:solidFill>
                  <a:srgbClr val="F0F0F8"/>
                </a:solidFill>
                <a:latin typeface="Calibri"/>
              </a:defRPr>
            </a:pPr>
            <a:r>
              <a:t>Darkroom Contact Sheet — 6 Interactive Artifact Frames</a:t>
            </a:r>
          </a:p>
          <a:p>
            <a:pPr>
              <a:defRPr sz="1200">
                <a:solidFill>
                  <a:srgbClr val="9A9AB0"/>
                </a:solidFill>
                <a:latin typeface="Calibri"/>
              </a:defRPr>
            </a:pPr>
            <a:r>
              <a:t>Exploring creative hobbies and passions through interactive film negative frames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609344"/>
            <a:ext cx="5925312" cy="4553712"/>
          </a:xfrm>
          <a:prstGeom prst="rect">
            <a:avLst/>
          </a:prstGeom>
          <a:solidFill>
            <a:srgbClr val="16161E"/>
          </a:solidFill>
          <a:ln w="12700">
            <a:solidFill>
              <a:srgbClr val="FF4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eyond_pixels_section_17913098315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85216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17220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606075"/>
                </a:solidFill>
              </a:defRPr>
            </a:pPr>
            <a:r>
              <a:t>Beyond Pixels Interactive Darkroom Frames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45920"/>
            <a:ext cx="4693615" cy="658368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828800"/>
            <a:ext cx="43278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5A93C"/>
                </a:solidFill>
                <a:latin typeface="Calibri"/>
              </a:defRPr>
            </a:pPr>
            <a:r>
              <a:t>Frame 01: Chess Strategy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Tactical thinking, positional analysis, and competitive play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2377440"/>
            <a:ext cx="4693615" cy="658368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2560320"/>
            <a:ext cx="43278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5A93C"/>
                </a:solidFill>
                <a:latin typeface="Calibri"/>
              </a:defRPr>
            </a:pPr>
            <a:r>
              <a:t>Frame 02: Fitness &amp; Gym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Discipline, consistency, and physical growth routines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3108960"/>
            <a:ext cx="4693615" cy="658368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3291840"/>
            <a:ext cx="43278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5A93C"/>
                </a:solidFill>
                <a:latin typeface="Calibri"/>
              </a:defRPr>
            </a:pPr>
            <a:r>
              <a:t>Frame 03: Music Production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Sound design, ambient audio composition, and rhythm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3840480"/>
            <a:ext cx="4693615" cy="658368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4023360"/>
            <a:ext cx="43278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5A93C"/>
                </a:solidFill>
                <a:latin typeface="Calibri"/>
              </a:defRPr>
            </a:pPr>
            <a:r>
              <a:t>Frame 04: Football &amp; Teamwork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Agility, team synergy, and strategic sports play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4572000"/>
            <a:ext cx="4693615" cy="658368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4754880"/>
            <a:ext cx="43278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5A93C"/>
                </a:solidFill>
                <a:latin typeface="Calibri"/>
              </a:defRPr>
            </a:pPr>
            <a:r>
              <a:t>Frame 05: Traditional Sketches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Preserving pure physical artwork in digital space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5303520"/>
            <a:ext cx="4693615" cy="658368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5486400"/>
            <a:ext cx="43278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5A93C"/>
                </a:solidFill>
                <a:latin typeface="Calibri"/>
              </a:defRPr>
            </a:pPr>
            <a:r>
              <a:t>Frame 06: LeetCode &amp; Problem Solving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Algorithms, data structures, and optimization logic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4B3A"/>
                </a:solidFill>
                <a:latin typeface="Calibri"/>
              </a:defRPr>
            </a:pPr>
            <a:r>
              <a:t>09 / TRADITIONAL SKETCHES</a:t>
            </a:r>
          </a:p>
          <a:p>
            <a:pPr>
              <a:defRPr sz="2200" b="1">
                <a:solidFill>
                  <a:srgbClr val="F0F0F8"/>
                </a:solidFill>
                <a:latin typeface="Calibri"/>
              </a:defRPr>
            </a:pPr>
            <a:r>
              <a:t>Preserving Authentic Hand-Drawn Artwork (Frame 05)</a:t>
            </a:r>
          </a:p>
          <a:p>
            <a:pPr>
              <a:defRPr sz="1200">
                <a:solidFill>
                  <a:srgbClr val="9A9AB0"/>
                </a:solidFill>
                <a:latin typeface="Calibri"/>
              </a:defRPr>
            </a:pPr>
            <a:r>
              <a:t>Pure analog sketches created by Yatin, displayed in clean orientation and frame layout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609344"/>
            <a:ext cx="3364992" cy="4553712"/>
          </a:xfrm>
          <a:prstGeom prst="rect">
            <a:avLst/>
          </a:prstGeom>
          <a:solidFill>
            <a:srgbClr val="16161E"/>
          </a:solidFill>
          <a:ln w="12700">
            <a:solidFill>
              <a:srgbClr val="FF4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ivaji_maharaj_sketch_17913071028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329184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1722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606075"/>
                </a:solidFill>
              </a:defRPr>
            </a:pPr>
            <a:r>
              <a:t>Chhatrapati Shivaji Maharaj Sketch</a:t>
            </a:r>
          </a:p>
        </p:txBody>
      </p:sp>
      <p:sp>
        <p:nvSpPr>
          <p:cNvPr id="7" name="Rectangle 6"/>
          <p:cNvSpPr/>
          <p:nvPr/>
        </p:nvSpPr>
        <p:spPr>
          <a:xfrm>
            <a:off x="4352544" y="1609344"/>
            <a:ext cx="3364992" cy="4553712"/>
          </a:xfrm>
          <a:prstGeom prst="rect">
            <a:avLst/>
          </a:prstGeom>
          <a:solidFill>
            <a:srgbClr val="16161E"/>
          </a:solidFill>
          <a:ln w="12700">
            <a:solidFill>
              <a:srgbClr val="FF4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d_accent_portrait_sketch_179130713342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645920"/>
            <a:ext cx="3291840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89120" y="61722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606075"/>
                </a:solidFill>
              </a:defRPr>
            </a:pPr>
            <a:r>
              <a:t>Red Accent Portrait Sketch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10144" y="1609344"/>
            <a:ext cx="3364992" cy="4553712"/>
          </a:xfrm>
          <a:prstGeom prst="rect">
            <a:avLst/>
          </a:prstGeom>
          <a:solidFill>
            <a:srgbClr val="16161E"/>
          </a:solidFill>
          <a:ln w="12700">
            <a:solidFill>
              <a:srgbClr val="FF4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wavy_hair_portrait_sketch_179130717245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645920"/>
            <a:ext cx="3291840" cy="44805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46720" y="61722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606075"/>
                </a:solidFill>
              </a:defRPr>
            </a:pPr>
            <a:r>
              <a:t>Wavy Hair Portrait Sketch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4B3A"/>
                </a:solidFill>
                <a:latin typeface="Calibri"/>
              </a:defRPr>
            </a:pPr>
            <a:r>
              <a:t>10 / CONTACT &amp; FOOTER</a:t>
            </a:r>
          </a:p>
          <a:p>
            <a:pPr>
              <a:defRPr sz="2200" b="1">
                <a:solidFill>
                  <a:srgbClr val="F0F0F8"/>
                </a:solidFill>
                <a:latin typeface="Calibri"/>
              </a:defRPr>
            </a:pPr>
            <a:r>
              <a:t>Contact Section &amp; Darkroom Badge</a:t>
            </a:r>
          </a:p>
          <a:p>
            <a:pPr>
              <a:defRPr sz="1200">
                <a:solidFill>
                  <a:srgbClr val="9A9AB0"/>
                </a:solidFill>
                <a:latin typeface="Calibri"/>
              </a:defRPr>
            </a:pPr>
            <a:r>
              <a:t>Interactive contact form, social links, and live footer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609344"/>
            <a:ext cx="5925312" cy="4553712"/>
          </a:xfrm>
          <a:prstGeom prst="rect">
            <a:avLst/>
          </a:prstGeom>
          <a:solidFill>
            <a:srgbClr val="16161E"/>
          </a:solidFill>
          <a:ln w="12700">
            <a:solidFill>
              <a:srgbClr val="FF4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ntact_footer_section_1790966726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85216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17220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606075"/>
                </a:solidFill>
              </a:defRPr>
            </a:pPr>
            <a:r>
              <a:t>Contact Form &amp; Footer Navigation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45920"/>
            <a:ext cx="4693615" cy="100584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828800"/>
            <a:ext cx="432785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5A93C"/>
                </a:solidFill>
                <a:latin typeface="Calibri"/>
              </a:defRPr>
            </a:pPr>
            <a:r>
              <a:t>Direct Contact Links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Email, LinkedIn, GitHub, and Twitter/X social links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2788920"/>
            <a:ext cx="4693615" cy="100584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2971800"/>
            <a:ext cx="432785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5A93C"/>
                </a:solidFill>
                <a:latin typeface="Calibri"/>
              </a:defRPr>
            </a:pPr>
            <a:r>
              <a:t>Interactive Message Form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Sleek glassmorphism contact form with instant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3931920"/>
            <a:ext cx="4693615" cy="100584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114800"/>
            <a:ext cx="432785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5A93C"/>
                </a:solidFill>
                <a:latin typeface="Calibri"/>
              </a:defRPr>
            </a:pPr>
            <a:r>
              <a:t>Live Darkroom Status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Shows local time, timezone, and current availability status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5074920"/>
            <a:ext cx="4693615" cy="100584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5257800"/>
            <a:ext cx="432785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5A93C"/>
                </a:solidFill>
                <a:latin typeface="Calibri"/>
              </a:defRPr>
            </a:pPr>
            <a:r>
              <a:t>Copyright &amp; Back to Top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Smooth scroll-to-top trigger and darkroom timestamp footer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4B3A"/>
                </a:solidFill>
                <a:latin typeface="Calibri"/>
              </a:defRPr>
            </a:pPr>
            <a:r>
              <a:t>11 / TECHNICAL SUMMARY</a:t>
            </a:r>
          </a:p>
          <a:p>
            <a:pPr>
              <a:defRPr sz="2200" b="1">
                <a:solidFill>
                  <a:srgbClr val="F0F0F8"/>
                </a:solidFill>
                <a:latin typeface="Calibri"/>
              </a:defRPr>
            </a:pPr>
            <a:r>
              <a:t>Portfolio Architecture &amp; Key Innovations Summary</a:t>
            </a:r>
          </a:p>
          <a:p>
            <a:pPr>
              <a:defRPr sz="1200">
                <a:solidFill>
                  <a:srgbClr val="9A9AB0"/>
                </a:solidFill>
                <a:latin typeface="Calibri"/>
              </a:defRPr>
            </a:pPr>
            <a:r>
              <a:t>Overview of performance, responsiveness, accessibility, and tech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448495" cy="457200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828800"/>
            <a:ext cx="908273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5A93C"/>
                </a:solidFill>
                <a:latin typeface="Calibri"/>
              </a:defRPr>
            </a:pPr>
            <a:r>
              <a:t>Portfolio Engineering Summary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Framework &amp; Language: Next.js 16 (App Router), React 19, TypeScript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Animation Engine: Framer Motion (Spring physics, layout animations, scroll hooks)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3D &amp; Sequence Rendering: HTML5 Canvas 2D frame preloading and scroll-synchronized playback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Design System &amp; Styling: CSS Custom Tokens, Vanilla CSS, Tailwind, Glassmorphism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Key Innovation 1: Dynamic 6-theme darkroom engine with instant CSS variable switching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Key Innovation 2: Floating polaroid popups on 3D hackathon card bring-to-front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Key Innovation 3: Interactive darkroom contact sheet celebrating multi-disciplinary creativity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