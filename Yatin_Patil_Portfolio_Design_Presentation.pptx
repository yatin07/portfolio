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61620"/>
          </a:solidFill>
          <a:ln w="254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99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4B3A"/>
                </a:solidFill>
              </a:defRPr>
            </a:pPr>
            <a:r>
              <a:t>PORTFOLIO DESIGN &amp; ENGINEERING CASE STUDY</a:t>
            </a:r>
          </a:p>
          <a:p>
            <a:pPr>
              <a:spcAft>
                <a:spcPts val="800"/>
              </a:spcAft>
              <a:defRPr sz="3200" b="1">
                <a:solidFill>
                  <a:srgbClr val="F0F0F8"/>
                </a:solidFill>
              </a:defRPr>
            </a:pPr>
            <a:r>
              <a:t>Yatin Patil — Developer Portfolio</a:t>
            </a:r>
          </a:p>
          <a:p>
            <a:pPr>
              <a:spcAft>
                <a:spcPts val="2400"/>
              </a:spcAft>
              <a:defRPr sz="1800">
                <a:solidFill>
                  <a:srgbClr val="E5A93C"/>
                </a:solidFill>
              </a:defRPr>
            </a:pPr>
            <a:r>
              <a:t>Objectives, Core Principles, Design Learnings &amp; Technical Execution</a:t>
            </a:r>
          </a:p>
          <a:p>
            <a:pPr>
              <a:spcAft>
                <a:spcPts val="2000"/>
              </a:spcAft>
              <a:defRPr sz="1200">
                <a:solidFill>
                  <a:srgbClr val="9A9AB0"/>
                </a:solidFill>
              </a:defRPr>
            </a:pPr>
            <a:r>
              <a:t>A comprehensive analysis exploring why a modern creative portfolio is built, the design &amp; UX principles guiding its creation, interactive darkroom theme innovation, and key engineering learnings.</a:t>
            </a:r>
          </a:p>
          <a:p>
            <a:pPr>
              <a:defRPr sz="1000" b="1">
                <a:solidFill>
                  <a:srgbClr val="65657B"/>
                </a:solidFill>
              </a:defRPr>
            </a:pPr>
            <a:r>
              <a:t>DEVELOPER: Yatin Patil   |   LIVE PORTFOLIO: https://yatinportfolio.vercel.app/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01 / PROJECT OBJECTIVES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Core Objectives &amp; Strategic Goals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Defining clear benchmarks for visual identity, technical excellence, and user engagement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1. Showcase Engineering Mastery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Demonstrate proficiency in modern full-stack engineering (Next.js 16, TypeScript, React 19) and high-performance animation.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2. Establish Unique Brand Identity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Craft a distinct, memorable analog darkroom theme that stands out from generic developer portfolios.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3. Provide Immersive User Experience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Engage visitors through interactive 3D scroll canvas scrubbing, customizable film themes, and micro-interactions.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9496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4. Preserve Authentic Artwork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Integrate traditional hand-drawn sketches and real hackathon moments directly without artificial degradation.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02 / RATIONALE &amp; PURPOSE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Why Create a Portfolio? — The Industry Need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Moving beyond static resumes to an interactive digital proof-of-work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42255" cy="201168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850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The Limits of Traditional Resumes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Paper resumes fail to capture interaction design, visual polish, responsiveness, or code quality.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201168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850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Proof of Execution &amp; Capabilities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A live functional product serves as concrete evidence of end-to-end building ability, from UI design to cloud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42255" cy="201168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7850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Standing Out in a Competitive Field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A custom, cinematic darkroom theme creates instant recall value for recruiters, engineering managers, and clients.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42255" cy="201168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7850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Continuous Self-Improvement Laboratory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Building a personal portfolio acts as a sandbox for experimenting with cutting-edge technologies like HTML5 canvas scrubbing and CSS token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03 / DESIGN PRINCIPLES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Core Design &amp; UX Principles Applied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Guiding visual hierarchy, color theory, glassmorphism, and optical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Analog Film Aesthetic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Inspired by darkroom film photography, utilizing 6 curated film simulation color profiles (Kodak Gold, Portra 400, Cinestill 800T, Tri-X B&amp;W).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Optical Hierarchy &amp; Typography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Using Inter for crisp body readability combined with monospace typography for technical metadata and film frame counters.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Glassmorphism &amp; Depth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Translucent card backgrounds (`#161620`), subtle glowing borders, and spatial depth layers that separate content naturally.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9496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Dynamic Micro-Interactions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Subtle hover states, custom cursor cues, ambient darkroom sound feedback, and keyboard shortcut toasts ('T' for theme switcher).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04 / TECHNICAL PRINCIPLES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Engineering &amp; Architectural Principles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Building for performance, responsiveness, modularity, and clean code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Performance-First Animation Engine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Renders a 213-frame scroll sequence using HTML5 2D Canvas preloading, avoiding heavy WebGL overhead while maintaining 60 FPS.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Type-Safe Modular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Built on Next.js 16 App Router and TypeScript, enforcing strict data schemas for projects, timeline cards, and film themes.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CSS Token Dynamic Theme Switching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Theme changes update global CSS variables instantaneously across the entire DOM tree without page reloads or layout re-renders.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9496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Physics-Based Component State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Framer Motion spring physics drive card stacking, polaroid popups, and smooth modal transitions.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05 / KEY FEATURES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Interactive Theme Engine &amp; 3D Scroll Canvas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Real site screenshots showing active features in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618488"/>
            <a:ext cx="5175504" cy="4535424"/>
          </a:xfrm>
          <a:prstGeom prst="rect">
            <a:avLst/>
          </a:prstGeom>
          <a:solidFill>
            <a:srgbClr val="161620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heme_switcher_cinestill_17913094324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5657B"/>
                </a:solidFill>
              </a:defRPr>
            </a:pPr>
            <a:r>
              <a:t>Film Theme Switcher (Cinestill 800T Active)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0488" y="1618488"/>
            <a:ext cx="5297119" cy="4535424"/>
          </a:xfrm>
          <a:prstGeom prst="rect">
            <a:avLst/>
          </a:prstGeom>
          <a:solidFill>
            <a:srgbClr val="161620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oll_canvas_section_17913094797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42255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6172200"/>
            <a:ext cx="5242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5657B"/>
                </a:solidFill>
              </a:defRPr>
            </a:pPr>
            <a:r>
              <a:t>213-Frame Interactive HTML5 Canvas 3D Sequence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06 / AUTHENTIC ARTIFACTS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Preserving Hand-Drawn Sketches &amp; Event Moments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Direct showcase of original hand-drawn artwork and real hackathon photos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618488"/>
            <a:ext cx="3346704" cy="4535424"/>
          </a:xfrm>
          <a:prstGeom prst="rect">
            <a:avLst/>
          </a:prstGeom>
          <a:solidFill>
            <a:srgbClr val="161620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vaji_mahara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29184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5657B"/>
                </a:solidFill>
              </a:defRPr>
            </a:pPr>
            <a:r>
              <a:t>Chhatrapati Shivaji Maharaj Sketch (Original Pencil Artwork)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1688" y="1618488"/>
            <a:ext cx="3346704" cy="4535424"/>
          </a:xfrm>
          <a:prstGeom prst="rect">
            <a:avLst/>
          </a:prstGeom>
          <a:solidFill>
            <a:srgbClr val="161620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d_accent_portra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329184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6172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5657B"/>
                </a:solidFill>
              </a:defRPr>
            </a:pPr>
            <a:r>
              <a:t>Red Accent Portrait Sketch (Original Drawing)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9288" y="1618488"/>
            <a:ext cx="3346704" cy="4535424"/>
          </a:xfrm>
          <a:prstGeom prst="rect">
            <a:avLst/>
          </a:prstGeom>
          <a:solidFill>
            <a:srgbClr val="161620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vy_hair_portrai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5920"/>
            <a:ext cx="329184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6172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5657B"/>
                </a:solidFill>
              </a:defRPr>
            </a:pPr>
            <a:r>
              <a:t>Wavy Hair Portrait Sketch (Original Graphite Study)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07 / EVENT MOMENTS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Moments Section — Floating Polaroid Hackathon Popups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Real event photos popping up into surrounding empty space on 3D card interaction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618488"/>
            <a:ext cx="5907024" cy="4535424"/>
          </a:xfrm>
          <a:prstGeom prst="rect">
            <a:avLst/>
          </a:prstGeom>
          <a:solidFill>
            <a:srgbClr val="161620"/>
          </a:solidFill>
          <a:ln w="12700">
            <a:solidFill>
              <a:srgbClr val="F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meline_section_1790966597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5657B"/>
                </a:solidFill>
              </a:defRPr>
            </a:pPr>
            <a:r>
              <a:t>3D Hackathon Timeline &amp; Dynamic Polaroid Popups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693615" cy="132588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0"/>
            <a:ext cx="4236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Buildathon Event Card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Displays hackathon details, code repository link, and team photos popping up dynamically.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108960"/>
            <a:ext cx="4693615" cy="132588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291840"/>
            <a:ext cx="4236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Mobile App Expo Card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6th Sem 2026 Expo event featuring React Native / Expo app showcase.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572000"/>
            <a:ext cx="4693615" cy="132588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754880"/>
            <a:ext cx="4236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Physics-Based Interaction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Spring animations bring active cards to front while pushing polaroid photo frames into spatial margins.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08 / DESIGN LEARNINGS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Key Design &amp; UX Insights Gained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Lessons learned in visual consistency, theme balancing, and user engagement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Color Theory in Theme Emulation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Designing 6 film themes required strict token management so text readability remains high regardless of accent color shifts.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Balancing Novelty &amp; Usability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Scrolljacked canvas animation provides a cinematic intro, but must smoothly release control to standard page scrolling.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Whitespace &amp; Spatial Padding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Allowing empty space around 3D card stacks provides room for floating polaroid popups without cluttering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9496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Accessibility in Dark Modes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Ensuring contrast ratios comply with WCAG standards while maintaining a deep darkroom aesthetic.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09 / TECHNICAL LEARNINGS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Engineering &amp; Performance Insights Gained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Overcoming canvas rendering bottlenecks, memory leaks, and layout shifts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Canvas Image Preloading Pipeline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Preloading 213 images into HTMLImageElement cache before rendering prevents image flicker and blank frames during scrub.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Layout Thrashing Prevention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Debouncing resize handlers and caching canvas width/height calculations kept render loop performance at a steady 60 FPS.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State Management for Theme Switching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Using React context coupled with CSS root custom properties enabled lightweight global theme updating with zero state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94960"/>
            <a:ext cx="102714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Optimizing Framer Motion Springs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Tuning spring stiffness and damping constants created smooth 3D card deck shuffling without physics instability.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4B3A"/>
                </a:solidFill>
                <a:latin typeface="Calibri"/>
              </a:defRPr>
            </a:pPr>
            <a:r>
              <a:t>10 / CONCLUSION</a:t>
            </a:r>
          </a:p>
          <a:p>
            <a:pPr>
              <a:defRPr sz="2200" b="1">
                <a:solidFill>
                  <a:srgbClr val="F0F0F8"/>
                </a:solidFill>
                <a:latin typeface="Calibri"/>
              </a:defRPr>
            </a:pPr>
            <a:r>
              <a:t>Conclusion &amp; Future Architectural Roadmap</a:t>
            </a:r>
          </a:p>
          <a:p>
            <a:pPr>
              <a:defRPr sz="1200">
                <a:solidFill>
                  <a:srgbClr val="9A9AB0"/>
                </a:solidFill>
                <a:latin typeface="Calibri"/>
              </a:defRPr>
            </a:pPr>
            <a:r>
              <a:t>Summary of project impact and upcoming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Project Summary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The portfolio successfully unifies an analog film darkroom visual identity with modern web engineering, delivering a memorable, high-performance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728655" cy="137160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33756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Measurable Impact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Provides a compelling, interactive showcase of full-stack engineering skills, UI/UX craftsmanship, and original creative endeavors.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84632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A93C"/>
                </a:solidFill>
                <a:latin typeface="Calibri"/>
              </a:defRPr>
            </a:pPr>
            <a:r>
              <a:t>Future Roadmap</a:t>
            </a:r>
          </a:p>
          <a:p>
            <a:pPr>
              <a:spcAft>
                <a:spcPts val="400"/>
              </a:spcAft>
              <a:defRPr sz="1100">
                <a:solidFill>
                  <a:srgbClr val="9A9AB0"/>
                </a:solidFill>
                <a:latin typeface="Calibri"/>
              </a:defRPr>
            </a:pPr>
            <a:r>
              <a:t>• Integrating a WebGL 3D darkroom photo enlarger simulator, an MDX-powered technical blog, and automated CI/CD deployment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